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Causa is an analyst agent that answers why questions and shows its work. Team MARS, Track 02: The Agent That Can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Analysts are asked why all day, for example why Target growth lagged Walmart, or whether Ford slowdown is company-specific or sector-wide. Evidence is fragmented across filings, industry codes and macro data. Today the result is a slide with no audit trail. Users: equity, credit and FP&amp;A analysts.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ground, hypothesise, test with read-only SQL through Zetaris, critic pass, ranked answer with provenance. Verified findings are remembered so the next question starts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question, Scout Intent (intent, risk check, signed execution contract), World Model (grounding), H-MEM recall. Middle: Nemotron served through Meterless Nightshift works with Zetaris tools (catalog, describe, read-only SQL), retries with errors fed back; Markovian keeps carried context bounded per step. Bottom row right to left: critic (second Nemotron pass plus deterministic number check), ranked answer, H-MEM remember with derivedFrom evidence and Zetaris query ids. Everything streams live over 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via Zetaris Lightning SQL REST; power via Meterless Nightshift with Nemotron models; memory, grounding, context and intent via Meterless engines. H-MEM, World Model and Markovian are vendored reference engines under Apache-2.0; Scout Intent is implemented from its AGENTS.md spec. UI is Vite + React + TypeScript; API is Node 22 + Hono with 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Zetaris is the only source of facts: every query goes through its Lightning SQL REST API over EDGAR XBRL facts, the company_dns SIC hierarchy, World Bank indicators and the sic_edgar_usl Unified Semantic Layer. Meterless supplies Nightshift as the primary provider and four engines, each powering a feature. NVIDIA Nemotron is served through Nightshift. Cursor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sponsor technologies form a chain, not a feature list: Scout Intent decides what the agent may do, World Model decides what exists, Zetaris is the only source of facts, Nemotron reasons, the critic plus deterministic check refuses any number not in the evidence rows, H-MEM remembers only what survived, with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live investigation with grounded entities, execution contract and budget meters, hypothesis board, AI provider log. Right: ranked answer with confidence and critic verification. Screenshots currently show MOCK data (mock data pill): replace with real-run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H-MEM trust-ledger audit drawer. Right: World Model entity-trail drawer. Screenshots currently show MOCK data (mock data pill): replace with real-run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items on this slide are planned future work,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tagline and point to the repo. Cursor was not used; built with Claude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1463040"/>
            <a:ext cx="10058400" cy="1463040"/>
          </a:xfrm>
          <a:prstGeom prst="rect">
            <a:avLst/>
          </a:prstGeom>
          <a:noFill/>
          <a:ln/>
        </p:spPr>
        <p:txBody>
          <a:bodyPr wrap="square" lIns="0" tIns="0" rIns="0" bIns="0" rtlCol="0" anchor="t"/>
          <a:lstStyle/>
          <a:p>
            <a:pPr indent="0" marL="0">
              <a:buNone/>
            </a:pPr>
            <a:r>
              <a:rPr lang="en-US" sz="9600" b="1" dirty="0">
                <a:solidFill>
                  <a:srgbClr val="EAF0F8"/>
                </a:solidFill>
                <a:latin typeface="Cambria" pitchFamily="34" charset="0"/>
                <a:ea typeface="Cambria" pitchFamily="34" charset="-122"/>
                <a:cs typeface="Cambria" pitchFamily="34" charset="-120"/>
              </a:rPr>
              <a:t>CAUSA</a:t>
            </a:r>
            <a:endParaRPr lang="en-US" sz="9600" dirty="0"/>
          </a:p>
        </p:txBody>
      </p:sp>
      <p:sp>
        <p:nvSpPr>
          <p:cNvPr id="4" name="Text 1"/>
          <p:cNvSpPr txBox="1"/>
          <p:nvPr/>
        </p:nvSpPr>
        <p:spPr>
          <a:xfrm>
            <a:off x="731520" y="3108960"/>
            <a:ext cx="10058400" cy="731520"/>
          </a:xfrm>
          <a:prstGeom prst="rect">
            <a:avLst/>
          </a:prstGeom>
          <a:noFill/>
          <a:ln/>
        </p:spPr>
        <p:txBody>
          <a:bodyPr wrap="square" lIns="0" tIns="0" rIns="0" bIns="0" rtlCol="0" anchor="t"/>
          <a:lstStyle/>
          <a:p>
            <a:pPr indent="0" marL="0">
              <a:buNone/>
            </a:pPr>
            <a:r>
              <a:rPr lang="en-US" sz="3600" i="1" dirty="0">
                <a:solidFill>
                  <a:srgbClr val="4FD1C5"/>
                </a:solidFill>
                <a:latin typeface="Cambria" pitchFamily="34" charset="0"/>
                <a:ea typeface="Cambria" pitchFamily="34" charset="-122"/>
                <a:cs typeface="Cambria" pitchFamily="34" charset="-120"/>
              </a:rPr>
              <a:t>“Answers you can check”</a:t>
            </a:r>
            <a:endParaRPr lang="en-US" sz="3600" dirty="0"/>
          </a:p>
        </p:txBody>
      </p:sp>
      <p:sp>
        <p:nvSpPr>
          <p:cNvPr id="5" name="Text 2"/>
          <p:cNvSpPr txBox="1"/>
          <p:nvPr/>
        </p:nvSpPr>
        <p:spPr>
          <a:xfrm>
            <a:off x="731520" y="4297680"/>
            <a:ext cx="10058400" cy="457200"/>
          </a:xfrm>
          <a:prstGeom prst="rect">
            <a:avLst/>
          </a:prstGeom>
          <a:noFill/>
          <a:ln/>
        </p:spPr>
        <p:txBody>
          <a:bodyPr wrap="square" lIns="0" tIns="0" rIns="0" bIns="0" rtlCol="0" anchor="t"/>
          <a:lstStyle/>
          <a:p>
            <a:pPr indent="0" marL="0">
              <a:buNone/>
            </a:pPr>
            <a:r>
              <a:rPr lang="en-US" sz="2400" dirty="0">
                <a:solidFill>
                  <a:srgbClr val="EAF0F8"/>
                </a:solidFill>
                <a:latin typeface="Calibri" pitchFamily="34" charset="0"/>
                <a:ea typeface="Calibri" pitchFamily="34" charset="-122"/>
                <a:cs typeface="Calibri" pitchFamily="34" charset="-120"/>
              </a:rPr>
              <a:t>Track 02: The Agent That Can Explain Why</a:t>
            </a:r>
            <a:endParaRPr lang="en-US" sz="2400" dirty="0"/>
          </a:p>
        </p:txBody>
      </p:sp>
      <p:sp>
        <p:nvSpPr>
          <p:cNvPr id="6" name="Text 3"/>
          <p:cNvSpPr txBox="1"/>
          <p:nvPr/>
        </p:nvSpPr>
        <p:spPr>
          <a:xfrm>
            <a:off x="731520" y="4846320"/>
            <a:ext cx="10058400" cy="457200"/>
          </a:xfrm>
          <a:prstGeom prst="rect">
            <a:avLst/>
          </a:prstGeom>
          <a:noFill/>
          <a:ln/>
        </p:spPr>
        <p:txBody>
          <a:bodyPr wrap="square" lIns="0" tIns="0" rIns="0" bIns="0" rtlCol="0" anchor="t"/>
          <a:lstStyle/>
          <a:p>
            <a:pPr indent="0" marL="0">
              <a:buNone/>
            </a:pPr>
            <a:r>
              <a:rPr lang="en-US" sz="2000" dirty="0">
                <a:solidFill>
                  <a:srgbClr val="A3B1C9"/>
                </a:solidFill>
                <a:latin typeface="Calibri" pitchFamily="34" charset="0"/>
                <a:ea typeface="Calibri" pitchFamily="34" charset="-122"/>
                <a:cs typeface="Calibri" pitchFamily="34" charset="-120"/>
              </a:rPr>
              <a:t>Team MARS  ·  GenAI Works Open Agent Hackathon 2026</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800" b="1" dirty="0">
                <a:solidFill>
                  <a:srgbClr val="EAF0F8"/>
                </a:solidFill>
                <a:latin typeface="Cambria" pitchFamily="34" charset="0"/>
                <a:ea typeface="Cambria" pitchFamily="34" charset="-122"/>
                <a:cs typeface="Cambria" pitchFamily="34" charset="-120"/>
              </a:rPr>
              <a:t>The problem: “why” has no audit trail</a:t>
            </a:r>
            <a:endParaRPr lang="en-US" sz="3800" dirty="0"/>
          </a:p>
        </p:txBody>
      </p:sp>
      <p:sp>
        <p:nvSpPr>
          <p:cNvPr id="4" name="Shape 1"/>
          <p:cNvSpPr/>
          <p:nvPr/>
        </p:nvSpPr>
        <p:spPr>
          <a:xfrm>
            <a:off x="548640" y="1554480"/>
            <a:ext cx="5394960" cy="2103120"/>
          </a:xfrm>
          <a:prstGeom prst="roundRect">
            <a:avLst>
              <a:gd name="adj" fmla="val 3478"/>
            </a:avLst>
          </a:prstGeom>
          <a:solidFill>
            <a:srgbClr val="152038"/>
          </a:solidFill>
          <a:ln w="12700">
            <a:solidFill>
              <a:srgbClr val="2A3A5C"/>
            </a:solidFill>
            <a:prstDash val="solid"/>
          </a:ln>
        </p:spPr>
      </p:sp>
      <p:sp>
        <p:nvSpPr>
          <p:cNvPr id="5" name="Text 2"/>
          <p:cNvSpPr txBox="1"/>
          <p:nvPr/>
        </p:nvSpPr>
        <p:spPr>
          <a:xfrm>
            <a:off x="777240" y="1737360"/>
            <a:ext cx="4937760" cy="411480"/>
          </a:xfrm>
          <a:prstGeom prst="rect">
            <a:avLst/>
          </a:prstGeom>
          <a:noFill/>
          <a:ln/>
        </p:spPr>
        <p:txBody>
          <a:bodyPr wrap="square" lIns="0" tIns="0" rIns="0" bIns="0" rtlCol="0" anchor="t"/>
          <a:lstStyle/>
          <a:p>
            <a:pPr indent="0" marL="0">
              <a:buNone/>
            </a:pPr>
            <a:r>
              <a:rPr lang="en-US" sz="2000" b="1" dirty="0">
                <a:solidFill>
                  <a:srgbClr val="4FD1C5"/>
                </a:solidFill>
                <a:latin typeface="Cambria" pitchFamily="34" charset="0"/>
                <a:ea typeface="Cambria" pitchFamily="34" charset="-122"/>
                <a:cs typeface="Cambria" pitchFamily="34" charset="-120"/>
              </a:rPr>
              <a:t>Questions analysts get</a:t>
            </a:r>
            <a:endParaRPr lang="en-US" sz="2000" dirty="0"/>
          </a:p>
        </p:txBody>
      </p:sp>
      <p:sp>
        <p:nvSpPr>
          <p:cNvPr id="6" name="Text 3"/>
          <p:cNvSpPr txBox="1"/>
          <p:nvPr/>
        </p:nvSpPr>
        <p:spPr>
          <a:xfrm>
            <a:off x="777240" y="2240280"/>
            <a:ext cx="4937760" cy="123444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“Why did Target’s revenue growth lag Walmart’s from FY2022 to FY2024?”</a:t>
            </a:r>
            <a:endParaRPr lang="en-US" sz="1800" dirty="0"/>
          </a:p>
          <a:p>
            <a:pPr indent="0" marL="0">
              <a:buNone/>
            </a:pPr>
            <a:r>
              <a:rPr lang="en-US" sz="1800" dirty="0">
                <a:solidFill>
                  <a:srgbClr val="EAF0F8"/>
                </a:solidFill>
                <a:latin typeface="Calibri" pitchFamily="34" charset="0"/>
                <a:ea typeface="Calibri" pitchFamily="34" charset="-122"/>
                <a:cs typeface="Calibri" pitchFamily="34" charset="-120"/>
              </a:rPr>
              <a:t>“Is Ford’s slowdown company-specific or sector-wide?”</a:t>
            </a:r>
            <a:endParaRPr lang="en-US" sz="1800" dirty="0"/>
          </a:p>
        </p:txBody>
      </p:sp>
      <p:sp>
        <p:nvSpPr>
          <p:cNvPr id="7" name="Shape 4"/>
          <p:cNvSpPr/>
          <p:nvPr/>
        </p:nvSpPr>
        <p:spPr>
          <a:xfrm>
            <a:off x="6245352" y="1554480"/>
            <a:ext cx="5394960" cy="2103120"/>
          </a:xfrm>
          <a:prstGeom prst="roundRect">
            <a:avLst>
              <a:gd name="adj" fmla="val 3478"/>
            </a:avLst>
          </a:prstGeom>
          <a:solidFill>
            <a:srgbClr val="152038"/>
          </a:solidFill>
          <a:ln w="12700">
            <a:solidFill>
              <a:srgbClr val="2A3A5C"/>
            </a:solidFill>
            <a:prstDash val="solid"/>
          </a:ln>
        </p:spPr>
      </p:sp>
      <p:sp>
        <p:nvSpPr>
          <p:cNvPr id="8" name="Text 5"/>
          <p:cNvSpPr txBox="1"/>
          <p:nvPr/>
        </p:nvSpPr>
        <p:spPr>
          <a:xfrm>
            <a:off x="6473952" y="1737360"/>
            <a:ext cx="4937760" cy="411480"/>
          </a:xfrm>
          <a:prstGeom prst="rect">
            <a:avLst/>
          </a:prstGeom>
          <a:noFill/>
          <a:ln/>
        </p:spPr>
        <p:txBody>
          <a:bodyPr wrap="square" lIns="0" tIns="0" rIns="0" bIns="0" rtlCol="0" anchor="t"/>
          <a:lstStyle/>
          <a:p>
            <a:pPr indent="0" marL="0">
              <a:buNone/>
            </a:pPr>
            <a:r>
              <a:rPr lang="en-US" sz="2000" b="1" dirty="0">
                <a:solidFill>
                  <a:srgbClr val="4FD1C5"/>
                </a:solidFill>
                <a:latin typeface="Cambria" pitchFamily="34" charset="0"/>
                <a:ea typeface="Cambria" pitchFamily="34" charset="-122"/>
                <a:cs typeface="Cambria" pitchFamily="34" charset="-120"/>
              </a:rPr>
              <a:t>Why it is hard</a:t>
            </a:r>
            <a:endParaRPr lang="en-US" sz="2000" dirty="0"/>
          </a:p>
        </p:txBody>
      </p:sp>
      <p:sp>
        <p:nvSpPr>
          <p:cNvPr id="9" name="Text 6"/>
          <p:cNvSpPr txBox="1"/>
          <p:nvPr/>
        </p:nvSpPr>
        <p:spPr>
          <a:xfrm>
            <a:off x="6473952" y="2240280"/>
            <a:ext cx="4937760" cy="123444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Evidence is fragmented: SEC filings, industry classifications and macro statistics live in different places, and are stitched together by hand.</a:t>
            </a:r>
            <a:endParaRPr lang="en-US" sz="1800" dirty="0"/>
          </a:p>
        </p:txBody>
      </p:sp>
      <p:sp>
        <p:nvSpPr>
          <p:cNvPr id="10" name="Shape 7"/>
          <p:cNvSpPr/>
          <p:nvPr/>
        </p:nvSpPr>
        <p:spPr>
          <a:xfrm>
            <a:off x="548640" y="3931920"/>
            <a:ext cx="5394960" cy="2103120"/>
          </a:xfrm>
          <a:prstGeom prst="roundRect">
            <a:avLst>
              <a:gd name="adj" fmla="val 3478"/>
            </a:avLst>
          </a:prstGeom>
          <a:solidFill>
            <a:srgbClr val="152038"/>
          </a:solidFill>
          <a:ln w="12700">
            <a:solidFill>
              <a:srgbClr val="2A3A5C"/>
            </a:solidFill>
            <a:prstDash val="solid"/>
          </a:ln>
        </p:spPr>
      </p:sp>
      <p:sp>
        <p:nvSpPr>
          <p:cNvPr id="11" name="Text 8"/>
          <p:cNvSpPr txBox="1"/>
          <p:nvPr/>
        </p:nvSpPr>
        <p:spPr>
          <a:xfrm>
            <a:off x="777240" y="4114800"/>
            <a:ext cx="4937760" cy="411480"/>
          </a:xfrm>
          <a:prstGeom prst="rect">
            <a:avLst/>
          </a:prstGeom>
          <a:noFill/>
          <a:ln/>
        </p:spPr>
        <p:txBody>
          <a:bodyPr wrap="square" lIns="0" tIns="0" rIns="0" bIns="0" rtlCol="0" anchor="t"/>
          <a:lstStyle/>
          <a:p>
            <a:pPr indent="0" marL="0">
              <a:buNone/>
            </a:pPr>
            <a:r>
              <a:rPr lang="en-US" sz="2000" b="1" dirty="0">
                <a:solidFill>
                  <a:srgbClr val="F2B8A0"/>
                </a:solidFill>
                <a:latin typeface="Cambria" pitchFamily="34" charset="0"/>
                <a:ea typeface="Cambria" pitchFamily="34" charset="-122"/>
                <a:cs typeface="Cambria" pitchFamily="34" charset="-120"/>
              </a:rPr>
              <a:t>What they end up with</a:t>
            </a:r>
            <a:endParaRPr lang="en-US" sz="2000" dirty="0"/>
          </a:p>
        </p:txBody>
      </p:sp>
      <p:sp>
        <p:nvSpPr>
          <p:cNvPr id="12" name="Text 9"/>
          <p:cNvSpPr txBox="1"/>
          <p:nvPr/>
        </p:nvSpPr>
        <p:spPr>
          <a:xfrm>
            <a:off x="777240" y="4617720"/>
            <a:ext cx="4937760" cy="123444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A slide with no audit trail. Nobody can check which numbers came from where.</a:t>
            </a:r>
            <a:endParaRPr lang="en-US" sz="1800" dirty="0"/>
          </a:p>
        </p:txBody>
      </p:sp>
      <p:sp>
        <p:nvSpPr>
          <p:cNvPr id="13" name="Shape 10"/>
          <p:cNvSpPr/>
          <p:nvPr/>
        </p:nvSpPr>
        <p:spPr>
          <a:xfrm>
            <a:off x="6245352" y="3931920"/>
            <a:ext cx="5394960" cy="2103120"/>
          </a:xfrm>
          <a:prstGeom prst="roundRect">
            <a:avLst>
              <a:gd name="adj" fmla="val 3478"/>
            </a:avLst>
          </a:prstGeom>
          <a:solidFill>
            <a:srgbClr val="152038"/>
          </a:solidFill>
          <a:ln w="12700">
            <a:solidFill>
              <a:srgbClr val="2A3A5C"/>
            </a:solidFill>
            <a:prstDash val="solid"/>
          </a:ln>
        </p:spPr>
      </p:sp>
      <p:sp>
        <p:nvSpPr>
          <p:cNvPr id="14" name="Text 11"/>
          <p:cNvSpPr txBox="1"/>
          <p:nvPr/>
        </p:nvSpPr>
        <p:spPr>
          <a:xfrm>
            <a:off x="6473952" y="4114800"/>
            <a:ext cx="4937760" cy="411480"/>
          </a:xfrm>
          <a:prstGeom prst="rect">
            <a:avLst/>
          </a:prstGeom>
          <a:noFill/>
          <a:ln/>
        </p:spPr>
        <p:txBody>
          <a:bodyPr wrap="square" lIns="0" tIns="0" rIns="0" bIns="0" rtlCol="0" anchor="t"/>
          <a:lstStyle/>
          <a:p>
            <a:pPr indent="0" marL="0">
              <a:buNone/>
            </a:pPr>
            <a:r>
              <a:rPr lang="en-US" sz="2000" b="1" dirty="0">
                <a:solidFill>
                  <a:srgbClr val="4FD1C5"/>
                </a:solidFill>
                <a:latin typeface="Cambria" pitchFamily="34" charset="0"/>
                <a:ea typeface="Cambria" pitchFamily="34" charset="-122"/>
                <a:cs typeface="Cambria" pitchFamily="34" charset="-120"/>
              </a:rPr>
              <a:t>Target users</a:t>
            </a:r>
            <a:endParaRPr lang="en-US" sz="2000" dirty="0"/>
          </a:p>
        </p:txBody>
      </p:sp>
      <p:sp>
        <p:nvSpPr>
          <p:cNvPr id="15" name="Text 12"/>
          <p:cNvSpPr txBox="1"/>
          <p:nvPr/>
        </p:nvSpPr>
        <p:spPr>
          <a:xfrm>
            <a:off x="6473952" y="4617720"/>
            <a:ext cx="4937760" cy="123444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Equity, credit and FP&amp;A analysts who must explain movements across filings, peers and macro data.</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800" b="1" dirty="0">
                <a:solidFill>
                  <a:srgbClr val="EAF0F8"/>
                </a:solidFill>
                <a:latin typeface="Cambria" pitchFamily="34" charset="0"/>
                <a:ea typeface="Cambria" pitchFamily="34" charset="-122"/>
                <a:cs typeface="Cambria" pitchFamily="34" charset="-120"/>
              </a:rPr>
              <a:t>The solution: an analyst agent that shows its work</a:t>
            </a:r>
            <a:endParaRPr lang="en-US" sz="3800" dirty="0"/>
          </a:p>
        </p:txBody>
      </p:sp>
      <p:sp>
        <p:nvSpPr>
          <p:cNvPr id="4" name="Shape 1"/>
          <p:cNvSpPr/>
          <p:nvPr/>
        </p:nvSpPr>
        <p:spPr>
          <a:xfrm>
            <a:off x="548640" y="1645920"/>
            <a:ext cx="2066544" cy="3566160"/>
          </a:xfrm>
          <a:prstGeom prst="roundRect">
            <a:avLst>
              <a:gd name="adj" fmla="val 3540"/>
            </a:avLst>
          </a:prstGeom>
          <a:solidFill>
            <a:srgbClr val="152038"/>
          </a:solidFill>
          <a:ln w="12700">
            <a:solidFill>
              <a:srgbClr val="2A3A5C"/>
            </a:solidFill>
            <a:prstDash val="solid"/>
          </a:ln>
        </p:spPr>
      </p:sp>
      <p:sp>
        <p:nvSpPr>
          <p:cNvPr id="5" name="Shape 2"/>
          <p:cNvSpPr/>
          <p:nvPr/>
        </p:nvSpPr>
        <p:spPr>
          <a:xfrm>
            <a:off x="777240" y="1874520"/>
            <a:ext cx="548640" cy="548640"/>
          </a:xfrm>
          <a:prstGeom prst="ellipse">
            <a:avLst/>
          </a:prstGeom>
          <a:solidFill>
            <a:srgbClr val="4FD1C5"/>
          </a:solidFill>
          <a:ln w="12700">
            <a:solidFill>
              <a:srgbClr val="4FD1C5"/>
            </a:solidFill>
            <a:prstDash val="solid"/>
          </a:ln>
        </p:spPr>
      </p:sp>
      <p:sp>
        <p:nvSpPr>
          <p:cNvPr id="6" name="Text 3"/>
          <p:cNvSpPr txBox="1"/>
          <p:nvPr/>
        </p:nvSpPr>
        <p:spPr>
          <a:xfrm>
            <a:off x="777240" y="1874520"/>
            <a:ext cx="548640" cy="548640"/>
          </a:xfrm>
          <a:prstGeom prst="rect">
            <a:avLst/>
          </a:prstGeom>
          <a:noFill/>
          <a:ln/>
        </p:spPr>
        <p:txBody>
          <a:bodyPr wrap="square" lIns="0" tIns="0" rIns="0" bIns="0" rtlCol="0" anchor="ctr"/>
          <a:lstStyle/>
          <a:p>
            <a:pPr algn="ctr" indent="0" marL="0">
              <a:buNone/>
            </a:pPr>
            <a:r>
              <a:rPr lang="en-US" sz="2200" b="1" dirty="0">
                <a:solidFill>
                  <a:srgbClr val="0B1220"/>
                </a:solidFill>
                <a:latin typeface="Cambria" pitchFamily="34" charset="0"/>
                <a:ea typeface="Cambria" pitchFamily="34" charset="-122"/>
                <a:cs typeface="Cambria" pitchFamily="34" charset="-120"/>
              </a:rPr>
              <a:t>1</a:t>
            </a:r>
            <a:endParaRPr lang="en-US" sz="2200" dirty="0"/>
          </a:p>
        </p:txBody>
      </p:sp>
      <p:sp>
        <p:nvSpPr>
          <p:cNvPr id="7" name="Text 4"/>
          <p:cNvSpPr txBox="1"/>
          <p:nvPr/>
        </p:nvSpPr>
        <p:spPr>
          <a:xfrm>
            <a:off x="777240" y="2606040"/>
            <a:ext cx="1609344" cy="411480"/>
          </a:xfrm>
          <a:prstGeom prst="rect">
            <a:avLst/>
          </a:prstGeom>
          <a:noFill/>
          <a:ln/>
        </p:spPr>
        <p:txBody>
          <a:bodyPr wrap="square" lIns="0" tIns="0" rIns="0" bIns="0" rtlCol="0" anchor="t"/>
          <a:lstStyle/>
          <a:p>
            <a:pPr indent="0" marL="0">
              <a:buNone/>
            </a:pPr>
            <a:r>
              <a:rPr lang="en-US" sz="2200" b="1" dirty="0">
                <a:solidFill>
                  <a:srgbClr val="EAF0F8"/>
                </a:solidFill>
                <a:latin typeface="Cambria" pitchFamily="34" charset="0"/>
                <a:ea typeface="Cambria" pitchFamily="34" charset="-122"/>
                <a:cs typeface="Cambria" pitchFamily="34" charset="-120"/>
              </a:rPr>
              <a:t>Ground</a:t>
            </a:r>
            <a:endParaRPr lang="en-US" sz="2200" dirty="0"/>
          </a:p>
        </p:txBody>
      </p:sp>
      <p:sp>
        <p:nvSpPr>
          <p:cNvPr id="8" name="Text 5"/>
          <p:cNvSpPr txBox="1"/>
          <p:nvPr/>
        </p:nvSpPr>
        <p:spPr>
          <a:xfrm>
            <a:off x="777240" y="3108960"/>
            <a:ext cx="1609344" cy="2011680"/>
          </a:xfrm>
          <a:prstGeom prst="rect">
            <a:avLst/>
          </a:prstGeom>
          <a:noFill/>
          <a:ln/>
        </p:spPr>
        <p:txBody>
          <a:bodyPr wrap="square" lIns="0" tIns="0" rIns="0" bIns="0" rtlCol="0" anchor="t"/>
          <a:lstStyle/>
          <a:p>
            <a:pPr indent="0" marL="0">
              <a:buNone/>
            </a:pPr>
            <a:r>
              <a:rPr lang="en-US" sz="1500" dirty="0">
                <a:solidFill>
                  <a:srgbClr val="A3B1C9"/>
                </a:solidFill>
                <a:latin typeface="Calibri" pitchFamily="34" charset="0"/>
                <a:ea typeface="Calibri" pitchFamily="34" charset="-122"/>
                <a:cs typeface="Calibri" pitchFamily="34" charset="-120"/>
              </a:rPr>
              <a:t>Resolve companies to real CIK, ticker and SIC. Unknown names are refused, not invented.</a:t>
            </a:r>
            <a:endParaRPr lang="en-US" sz="1500" dirty="0"/>
          </a:p>
        </p:txBody>
      </p:sp>
      <p:sp>
        <p:nvSpPr>
          <p:cNvPr id="9" name="Shape 6"/>
          <p:cNvSpPr/>
          <p:nvPr/>
        </p:nvSpPr>
        <p:spPr>
          <a:xfrm>
            <a:off x="2798064" y="1645920"/>
            <a:ext cx="2066544" cy="3566160"/>
          </a:xfrm>
          <a:prstGeom prst="roundRect">
            <a:avLst>
              <a:gd name="adj" fmla="val 3540"/>
            </a:avLst>
          </a:prstGeom>
          <a:solidFill>
            <a:srgbClr val="152038"/>
          </a:solidFill>
          <a:ln w="12700">
            <a:solidFill>
              <a:srgbClr val="2A3A5C"/>
            </a:solidFill>
            <a:prstDash val="solid"/>
          </a:ln>
        </p:spPr>
      </p:sp>
      <p:sp>
        <p:nvSpPr>
          <p:cNvPr id="10" name="Shape 7"/>
          <p:cNvSpPr/>
          <p:nvPr/>
        </p:nvSpPr>
        <p:spPr>
          <a:xfrm>
            <a:off x="3026664" y="1874520"/>
            <a:ext cx="548640" cy="548640"/>
          </a:xfrm>
          <a:prstGeom prst="ellipse">
            <a:avLst/>
          </a:prstGeom>
          <a:solidFill>
            <a:srgbClr val="4FD1C5"/>
          </a:solidFill>
          <a:ln w="12700">
            <a:solidFill>
              <a:srgbClr val="4FD1C5"/>
            </a:solidFill>
            <a:prstDash val="solid"/>
          </a:ln>
        </p:spPr>
      </p:sp>
      <p:sp>
        <p:nvSpPr>
          <p:cNvPr id="11" name="Text 8"/>
          <p:cNvSpPr txBox="1"/>
          <p:nvPr/>
        </p:nvSpPr>
        <p:spPr>
          <a:xfrm>
            <a:off x="3026664" y="1874520"/>
            <a:ext cx="548640" cy="548640"/>
          </a:xfrm>
          <a:prstGeom prst="rect">
            <a:avLst/>
          </a:prstGeom>
          <a:noFill/>
          <a:ln/>
        </p:spPr>
        <p:txBody>
          <a:bodyPr wrap="square" lIns="0" tIns="0" rIns="0" bIns="0" rtlCol="0" anchor="ctr"/>
          <a:lstStyle/>
          <a:p>
            <a:pPr algn="ctr" indent="0" marL="0">
              <a:buNone/>
            </a:pPr>
            <a:r>
              <a:rPr lang="en-US" sz="2200" b="1" dirty="0">
                <a:solidFill>
                  <a:srgbClr val="0B1220"/>
                </a:solidFill>
                <a:latin typeface="Cambria" pitchFamily="34" charset="0"/>
                <a:ea typeface="Cambria" pitchFamily="34" charset="-122"/>
                <a:cs typeface="Cambria" pitchFamily="34" charset="-120"/>
              </a:rPr>
              <a:t>2</a:t>
            </a:r>
            <a:endParaRPr lang="en-US" sz="2200" dirty="0"/>
          </a:p>
        </p:txBody>
      </p:sp>
      <p:sp>
        <p:nvSpPr>
          <p:cNvPr id="12" name="Text 9"/>
          <p:cNvSpPr txBox="1"/>
          <p:nvPr/>
        </p:nvSpPr>
        <p:spPr>
          <a:xfrm>
            <a:off x="3026664" y="2606040"/>
            <a:ext cx="1609344" cy="411480"/>
          </a:xfrm>
          <a:prstGeom prst="rect">
            <a:avLst/>
          </a:prstGeom>
          <a:noFill/>
          <a:ln/>
        </p:spPr>
        <p:txBody>
          <a:bodyPr wrap="square" lIns="0" tIns="0" rIns="0" bIns="0" rtlCol="0" anchor="t"/>
          <a:lstStyle/>
          <a:p>
            <a:pPr indent="0" marL="0">
              <a:buNone/>
            </a:pPr>
            <a:r>
              <a:rPr lang="en-US" sz="2200" b="1" dirty="0">
                <a:solidFill>
                  <a:srgbClr val="EAF0F8"/>
                </a:solidFill>
                <a:latin typeface="Cambria" pitchFamily="34" charset="0"/>
                <a:ea typeface="Cambria" pitchFamily="34" charset="-122"/>
                <a:cs typeface="Cambria" pitchFamily="34" charset="-120"/>
              </a:rPr>
              <a:t>Hypothesise</a:t>
            </a:r>
            <a:endParaRPr lang="en-US" sz="2200" dirty="0"/>
          </a:p>
        </p:txBody>
      </p:sp>
      <p:sp>
        <p:nvSpPr>
          <p:cNvPr id="13" name="Text 10"/>
          <p:cNvSpPr txBox="1"/>
          <p:nvPr/>
        </p:nvSpPr>
        <p:spPr>
          <a:xfrm>
            <a:off x="3026664" y="3108960"/>
            <a:ext cx="1609344" cy="2011680"/>
          </a:xfrm>
          <a:prstGeom prst="rect">
            <a:avLst/>
          </a:prstGeom>
          <a:noFill/>
          <a:ln/>
        </p:spPr>
        <p:txBody>
          <a:bodyPr wrap="square" lIns="0" tIns="0" rIns="0" bIns="0" rtlCol="0" anchor="t"/>
          <a:lstStyle/>
          <a:p>
            <a:pPr indent="0" marL="0">
              <a:buNone/>
            </a:pPr>
            <a:r>
              <a:rPr lang="en-US" sz="1500" dirty="0">
                <a:solidFill>
                  <a:srgbClr val="A3B1C9"/>
                </a:solidFill>
                <a:latin typeface="Calibri" pitchFamily="34" charset="0"/>
                <a:ea typeface="Calibri" pitchFamily="34" charset="-122"/>
                <a:cs typeface="Calibri" pitchFamily="34" charset="-120"/>
              </a:rPr>
              <a:t>Propose competing causes: company-specific, sector-wide or macro.</a:t>
            </a:r>
            <a:endParaRPr lang="en-US" sz="1500" dirty="0"/>
          </a:p>
        </p:txBody>
      </p:sp>
      <p:sp>
        <p:nvSpPr>
          <p:cNvPr id="14" name="Shape 11"/>
          <p:cNvSpPr/>
          <p:nvPr/>
        </p:nvSpPr>
        <p:spPr>
          <a:xfrm>
            <a:off x="5047488" y="1645920"/>
            <a:ext cx="2066544" cy="3566160"/>
          </a:xfrm>
          <a:prstGeom prst="roundRect">
            <a:avLst>
              <a:gd name="adj" fmla="val 3540"/>
            </a:avLst>
          </a:prstGeom>
          <a:solidFill>
            <a:srgbClr val="152038"/>
          </a:solidFill>
          <a:ln w="12700">
            <a:solidFill>
              <a:srgbClr val="2A3A5C"/>
            </a:solidFill>
            <a:prstDash val="solid"/>
          </a:ln>
        </p:spPr>
      </p:sp>
      <p:sp>
        <p:nvSpPr>
          <p:cNvPr id="15" name="Shape 12"/>
          <p:cNvSpPr/>
          <p:nvPr/>
        </p:nvSpPr>
        <p:spPr>
          <a:xfrm>
            <a:off x="5276088" y="1874520"/>
            <a:ext cx="548640" cy="548640"/>
          </a:xfrm>
          <a:prstGeom prst="ellipse">
            <a:avLst/>
          </a:prstGeom>
          <a:solidFill>
            <a:srgbClr val="4FD1C5"/>
          </a:solidFill>
          <a:ln w="12700">
            <a:solidFill>
              <a:srgbClr val="4FD1C5"/>
            </a:solidFill>
            <a:prstDash val="solid"/>
          </a:ln>
        </p:spPr>
      </p:sp>
      <p:sp>
        <p:nvSpPr>
          <p:cNvPr id="16" name="Text 13"/>
          <p:cNvSpPr txBox="1"/>
          <p:nvPr/>
        </p:nvSpPr>
        <p:spPr>
          <a:xfrm>
            <a:off x="5276088" y="1874520"/>
            <a:ext cx="548640" cy="548640"/>
          </a:xfrm>
          <a:prstGeom prst="rect">
            <a:avLst/>
          </a:prstGeom>
          <a:noFill/>
          <a:ln/>
        </p:spPr>
        <p:txBody>
          <a:bodyPr wrap="square" lIns="0" tIns="0" rIns="0" bIns="0" rtlCol="0" anchor="ctr"/>
          <a:lstStyle/>
          <a:p>
            <a:pPr algn="ctr" indent="0" marL="0">
              <a:buNone/>
            </a:pPr>
            <a:r>
              <a:rPr lang="en-US" sz="2200" b="1" dirty="0">
                <a:solidFill>
                  <a:srgbClr val="0B1220"/>
                </a:solidFill>
                <a:latin typeface="Cambria" pitchFamily="34" charset="0"/>
                <a:ea typeface="Cambria" pitchFamily="34" charset="-122"/>
                <a:cs typeface="Cambria" pitchFamily="34" charset="-120"/>
              </a:rPr>
              <a:t>3</a:t>
            </a:r>
            <a:endParaRPr lang="en-US" sz="2200" dirty="0"/>
          </a:p>
        </p:txBody>
      </p:sp>
      <p:sp>
        <p:nvSpPr>
          <p:cNvPr id="17" name="Text 14"/>
          <p:cNvSpPr txBox="1"/>
          <p:nvPr/>
        </p:nvSpPr>
        <p:spPr>
          <a:xfrm>
            <a:off x="5276088" y="2606040"/>
            <a:ext cx="1609344" cy="411480"/>
          </a:xfrm>
          <a:prstGeom prst="rect">
            <a:avLst/>
          </a:prstGeom>
          <a:noFill/>
          <a:ln/>
        </p:spPr>
        <p:txBody>
          <a:bodyPr wrap="square" lIns="0" tIns="0" rIns="0" bIns="0" rtlCol="0" anchor="t"/>
          <a:lstStyle/>
          <a:p>
            <a:pPr indent="0" marL="0">
              <a:buNone/>
            </a:pPr>
            <a:r>
              <a:rPr lang="en-US" sz="2200" b="1" dirty="0">
                <a:solidFill>
                  <a:srgbClr val="EAF0F8"/>
                </a:solidFill>
                <a:latin typeface="Cambria" pitchFamily="34" charset="0"/>
                <a:ea typeface="Cambria" pitchFamily="34" charset="-122"/>
                <a:cs typeface="Cambria" pitchFamily="34" charset="-120"/>
              </a:rPr>
              <a:t>Test</a:t>
            </a:r>
            <a:endParaRPr lang="en-US" sz="2200" dirty="0"/>
          </a:p>
        </p:txBody>
      </p:sp>
      <p:sp>
        <p:nvSpPr>
          <p:cNvPr id="18" name="Text 15"/>
          <p:cNvSpPr txBox="1"/>
          <p:nvPr/>
        </p:nvSpPr>
        <p:spPr>
          <a:xfrm>
            <a:off x="5276088" y="3108960"/>
            <a:ext cx="1609344" cy="2011680"/>
          </a:xfrm>
          <a:prstGeom prst="rect">
            <a:avLst/>
          </a:prstGeom>
          <a:noFill/>
          <a:ln/>
        </p:spPr>
        <p:txBody>
          <a:bodyPr wrap="square" lIns="0" tIns="0" rIns="0" bIns="0" rtlCol="0" anchor="t"/>
          <a:lstStyle/>
          <a:p>
            <a:pPr indent="0" marL="0">
              <a:buNone/>
            </a:pPr>
            <a:r>
              <a:rPr lang="en-US" sz="1500" dirty="0">
                <a:solidFill>
                  <a:srgbClr val="A3B1C9"/>
                </a:solidFill>
                <a:latin typeface="Calibri" pitchFamily="34" charset="0"/>
                <a:ea typeface="Calibri" pitchFamily="34" charset="-122"/>
                <a:cs typeface="Calibri" pitchFamily="34" charset="-120"/>
              </a:rPr>
              <a:t>Read-only SQL through Zetaris across EDGAR, SIC and World Bank data.</a:t>
            </a:r>
            <a:endParaRPr lang="en-US" sz="1500" dirty="0"/>
          </a:p>
        </p:txBody>
      </p:sp>
      <p:sp>
        <p:nvSpPr>
          <p:cNvPr id="19" name="Shape 16"/>
          <p:cNvSpPr/>
          <p:nvPr/>
        </p:nvSpPr>
        <p:spPr>
          <a:xfrm>
            <a:off x="7296912" y="1645920"/>
            <a:ext cx="2066544" cy="3566160"/>
          </a:xfrm>
          <a:prstGeom prst="roundRect">
            <a:avLst>
              <a:gd name="adj" fmla="val 3540"/>
            </a:avLst>
          </a:prstGeom>
          <a:solidFill>
            <a:srgbClr val="152038"/>
          </a:solidFill>
          <a:ln w="12700">
            <a:solidFill>
              <a:srgbClr val="2A3A5C"/>
            </a:solidFill>
            <a:prstDash val="solid"/>
          </a:ln>
        </p:spPr>
      </p:sp>
      <p:sp>
        <p:nvSpPr>
          <p:cNvPr id="20" name="Shape 17"/>
          <p:cNvSpPr/>
          <p:nvPr/>
        </p:nvSpPr>
        <p:spPr>
          <a:xfrm>
            <a:off x="7525512" y="1874520"/>
            <a:ext cx="548640" cy="548640"/>
          </a:xfrm>
          <a:prstGeom prst="ellipse">
            <a:avLst/>
          </a:prstGeom>
          <a:solidFill>
            <a:srgbClr val="4FD1C5"/>
          </a:solidFill>
          <a:ln w="12700">
            <a:solidFill>
              <a:srgbClr val="4FD1C5"/>
            </a:solidFill>
            <a:prstDash val="solid"/>
          </a:ln>
        </p:spPr>
      </p:sp>
      <p:sp>
        <p:nvSpPr>
          <p:cNvPr id="21" name="Text 18"/>
          <p:cNvSpPr txBox="1"/>
          <p:nvPr/>
        </p:nvSpPr>
        <p:spPr>
          <a:xfrm>
            <a:off x="7525512" y="1874520"/>
            <a:ext cx="548640" cy="548640"/>
          </a:xfrm>
          <a:prstGeom prst="rect">
            <a:avLst/>
          </a:prstGeom>
          <a:noFill/>
          <a:ln/>
        </p:spPr>
        <p:txBody>
          <a:bodyPr wrap="square" lIns="0" tIns="0" rIns="0" bIns="0" rtlCol="0" anchor="ctr"/>
          <a:lstStyle/>
          <a:p>
            <a:pPr algn="ctr" indent="0" marL="0">
              <a:buNone/>
            </a:pPr>
            <a:r>
              <a:rPr lang="en-US" sz="2200" b="1" dirty="0">
                <a:solidFill>
                  <a:srgbClr val="0B1220"/>
                </a:solidFill>
                <a:latin typeface="Cambria" pitchFamily="34" charset="0"/>
                <a:ea typeface="Cambria" pitchFamily="34" charset="-122"/>
                <a:cs typeface="Cambria" pitchFamily="34" charset="-120"/>
              </a:rPr>
              <a:t>4</a:t>
            </a:r>
            <a:endParaRPr lang="en-US" sz="2200" dirty="0"/>
          </a:p>
        </p:txBody>
      </p:sp>
      <p:sp>
        <p:nvSpPr>
          <p:cNvPr id="22" name="Text 19"/>
          <p:cNvSpPr txBox="1"/>
          <p:nvPr/>
        </p:nvSpPr>
        <p:spPr>
          <a:xfrm>
            <a:off x="7525512" y="2606040"/>
            <a:ext cx="1609344" cy="411480"/>
          </a:xfrm>
          <a:prstGeom prst="rect">
            <a:avLst/>
          </a:prstGeom>
          <a:noFill/>
          <a:ln/>
        </p:spPr>
        <p:txBody>
          <a:bodyPr wrap="square" lIns="0" tIns="0" rIns="0" bIns="0" rtlCol="0" anchor="t"/>
          <a:lstStyle/>
          <a:p>
            <a:pPr indent="0" marL="0">
              <a:buNone/>
            </a:pPr>
            <a:r>
              <a:rPr lang="en-US" sz="2200" b="1" dirty="0">
                <a:solidFill>
                  <a:srgbClr val="EAF0F8"/>
                </a:solidFill>
                <a:latin typeface="Cambria" pitchFamily="34" charset="0"/>
                <a:ea typeface="Cambria" pitchFamily="34" charset="-122"/>
                <a:cs typeface="Cambria" pitchFamily="34" charset="-120"/>
              </a:rPr>
              <a:t>Critique</a:t>
            </a:r>
            <a:endParaRPr lang="en-US" sz="2200" dirty="0"/>
          </a:p>
        </p:txBody>
      </p:sp>
      <p:sp>
        <p:nvSpPr>
          <p:cNvPr id="23" name="Text 20"/>
          <p:cNvSpPr txBox="1"/>
          <p:nvPr/>
        </p:nvSpPr>
        <p:spPr>
          <a:xfrm>
            <a:off x="7525512" y="3108960"/>
            <a:ext cx="1609344" cy="2011680"/>
          </a:xfrm>
          <a:prstGeom prst="rect">
            <a:avLst/>
          </a:prstGeom>
          <a:noFill/>
          <a:ln/>
        </p:spPr>
        <p:txBody>
          <a:bodyPr wrap="square" lIns="0" tIns="0" rIns="0" bIns="0" rtlCol="0" anchor="t"/>
          <a:lstStyle/>
          <a:p>
            <a:pPr indent="0" marL="0">
              <a:buNone/>
            </a:pPr>
            <a:r>
              <a:rPr lang="en-US" sz="1500" dirty="0">
                <a:solidFill>
                  <a:srgbClr val="A3B1C9"/>
                </a:solidFill>
                <a:latin typeface="Calibri" pitchFamily="34" charset="0"/>
                <a:ea typeface="Calibri" pitchFamily="34" charset="-122"/>
                <a:cs typeface="Calibri" pitchFamily="34" charset="-120"/>
              </a:rPr>
              <a:t>A critic pass checks every number in every claim against the rows it cites.</a:t>
            </a:r>
            <a:endParaRPr lang="en-US" sz="1500" dirty="0"/>
          </a:p>
        </p:txBody>
      </p:sp>
      <p:sp>
        <p:nvSpPr>
          <p:cNvPr id="24" name="Shape 21"/>
          <p:cNvSpPr/>
          <p:nvPr/>
        </p:nvSpPr>
        <p:spPr>
          <a:xfrm>
            <a:off x="9546336" y="1645920"/>
            <a:ext cx="2066544" cy="3566160"/>
          </a:xfrm>
          <a:prstGeom prst="roundRect">
            <a:avLst>
              <a:gd name="adj" fmla="val 3540"/>
            </a:avLst>
          </a:prstGeom>
          <a:solidFill>
            <a:srgbClr val="152038"/>
          </a:solidFill>
          <a:ln w="12700">
            <a:solidFill>
              <a:srgbClr val="2A3A5C"/>
            </a:solidFill>
            <a:prstDash val="solid"/>
          </a:ln>
        </p:spPr>
      </p:sp>
      <p:sp>
        <p:nvSpPr>
          <p:cNvPr id="25" name="Shape 22"/>
          <p:cNvSpPr/>
          <p:nvPr/>
        </p:nvSpPr>
        <p:spPr>
          <a:xfrm>
            <a:off x="9774936" y="1874520"/>
            <a:ext cx="548640" cy="548640"/>
          </a:xfrm>
          <a:prstGeom prst="ellipse">
            <a:avLst/>
          </a:prstGeom>
          <a:solidFill>
            <a:srgbClr val="4FD1C5"/>
          </a:solidFill>
          <a:ln w="12700">
            <a:solidFill>
              <a:srgbClr val="4FD1C5"/>
            </a:solidFill>
            <a:prstDash val="solid"/>
          </a:ln>
        </p:spPr>
      </p:sp>
      <p:sp>
        <p:nvSpPr>
          <p:cNvPr id="26" name="Text 23"/>
          <p:cNvSpPr txBox="1"/>
          <p:nvPr/>
        </p:nvSpPr>
        <p:spPr>
          <a:xfrm>
            <a:off x="9774936" y="1874520"/>
            <a:ext cx="548640" cy="548640"/>
          </a:xfrm>
          <a:prstGeom prst="rect">
            <a:avLst/>
          </a:prstGeom>
          <a:noFill/>
          <a:ln/>
        </p:spPr>
        <p:txBody>
          <a:bodyPr wrap="square" lIns="0" tIns="0" rIns="0" bIns="0" rtlCol="0" anchor="ctr"/>
          <a:lstStyle/>
          <a:p>
            <a:pPr algn="ctr" indent="0" marL="0">
              <a:buNone/>
            </a:pPr>
            <a:r>
              <a:rPr lang="en-US" sz="2200" b="1" dirty="0">
                <a:solidFill>
                  <a:srgbClr val="0B1220"/>
                </a:solidFill>
                <a:latin typeface="Cambria" pitchFamily="34" charset="0"/>
                <a:ea typeface="Cambria" pitchFamily="34" charset="-122"/>
                <a:cs typeface="Cambria" pitchFamily="34" charset="-120"/>
              </a:rPr>
              <a:t>5</a:t>
            </a:r>
            <a:endParaRPr lang="en-US" sz="2200" dirty="0"/>
          </a:p>
        </p:txBody>
      </p:sp>
      <p:sp>
        <p:nvSpPr>
          <p:cNvPr id="27" name="Text 24"/>
          <p:cNvSpPr txBox="1"/>
          <p:nvPr/>
        </p:nvSpPr>
        <p:spPr>
          <a:xfrm>
            <a:off x="9774936" y="2606040"/>
            <a:ext cx="1609344" cy="411480"/>
          </a:xfrm>
          <a:prstGeom prst="rect">
            <a:avLst/>
          </a:prstGeom>
          <a:noFill/>
          <a:ln/>
        </p:spPr>
        <p:txBody>
          <a:bodyPr wrap="square" lIns="0" tIns="0" rIns="0" bIns="0" rtlCol="0" anchor="t"/>
          <a:lstStyle/>
          <a:p>
            <a:pPr indent="0" marL="0">
              <a:buNone/>
            </a:pPr>
            <a:r>
              <a:rPr lang="en-US" sz="2200" b="1" dirty="0">
                <a:solidFill>
                  <a:srgbClr val="EAF0F8"/>
                </a:solidFill>
                <a:latin typeface="Cambria" pitchFamily="34" charset="0"/>
                <a:ea typeface="Cambria" pitchFamily="34" charset="-122"/>
                <a:cs typeface="Cambria" pitchFamily="34" charset="-120"/>
              </a:rPr>
              <a:t>Answer</a:t>
            </a:r>
            <a:endParaRPr lang="en-US" sz="2200" dirty="0"/>
          </a:p>
        </p:txBody>
      </p:sp>
      <p:sp>
        <p:nvSpPr>
          <p:cNvPr id="28" name="Text 25"/>
          <p:cNvSpPr txBox="1"/>
          <p:nvPr/>
        </p:nvSpPr>
        <p:spPr>
          <a:xfrm>
            <a:off x="9774936" y="3108960"/>
            <a:ext cx="1609344" cy="2011680"/>
          </a:xfrm>
          <a:prstGeom prst="rect">
            <a:avLst/>
          </a:prstGeom>
          <a:noFill/>
          <a:ln/>
        </p:spPr>
        <p:txBody>
          <a:bodyPr wrap="square" lIns="0" tIns="0" rIns="0" bIns="0" rtlCol="0" anchor="t"/>
          <a:lstStyle/>
          <a:p>
            <a:pPr indent="0" marL="0">
              <a:buNone/>
            </a:pPr>
            <a:r>
              <a:rPr lang="en-US" sz="1500" dirty="0">
                <a:solidFill>
                  <a:srgbClr val="A3B1C9"/>
                </a:solidFill>
                <a:latin typeface="Calibri" pitchFamily="34" charset="0"/>
                <a:ea typeface="Calibri" pitchFamily="34" charset="-122"/>
                <a:cs typeface="Calibri" pitchFamily="34" charset="-120"/>
              </a:rPr>
              <a:t>Ranked causes with confidence, each linked to the exact query, rows and source.</a:t>
            </a:r>
            <a:endParaRPr lang="en-US" sz="1500" dirty="0"/>
          </a:p>
        </p:txBody>
      </p:sp>
      <p:sp>
        <p:nvSpPr>
          <p:cNvPr id="29" name="Text 26"/>
          <p:cNvSpPr txBox="1"/>
          <p:nvPr/>
        </p:nvSpPr>
        <p:spPr>
          <a:xfrm>
            <a:off x="548640" y="5486400"/>
            <a:ext cx="11064240" cy="640080"/>
          </a:xfrm>
          <a:prstGeom prst="rect">
            <a:avLst/>
          </a:prstGeom>
          <a:noFill/>
          <a:ln/>
        </p:spPr>
        <p:txBody>
          <a:bodyPr wrap="square" lIns="0" tIns="0" rIns="0" bIns="0" rtlCol="0" anchor="t"/>
          <a:lstStyle/>
          <a:p>
            <a:pPr indent="0" marL="0">
              <a:buNone/>
            </a:pPr>
            <a:r>
              <a:rPr lang="en-US" sz="1800" dirty="0">
                <a:solidFill>
                  <a:srgbClr val="4FD1C5"/>
                </a:solidFill>
                <a:latin typeface="Calibri" pitchFamily="34" charset="0"/>
                <a:ea typeface="Calibri" pitchFamily="34" charset="-122"/>
                <a:cs typeface="Calibri" pitchFamily="34" charset="-120"/>
              </a:rPr>
              <a:t>Verified findings are remembered with provenance, so the next related question starts warm and can be audited.</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800" b="1" dirty="0">
                <a:solidFill>
                  <a:srgbClr val="EAF0F8"/>
                </a:solidFill>
                <a:latin typeface="Cambria" pitchFamily="34" charset="0"/>
                <a:ea typeface="Cambria" pitchFamily="34" charset="-122"/>
                <a:cs typeface="Cambria" pitchFamily="34" charset="-120"/>
              </a:rPr>
              <a:t>Agent workflow and architecture</a:t>
            </a:r>
            <a:endParaRPr lang="en-US" sz="3800" dirty="0"/>
          </a:p>
        </p:txBody>
      </p:sp>
      <p:sp>
        <p:nvSpPr>
          <p:cNvPr id="4" name="Shape 1"/>
          <p:cNvSpPr/>
          <p:nvPr/>
        </p:nvSpPr>
        <p:spPr>
          <a:xfrm>
            <a:off x="548640" y="1463040"/>
            <a:ext cx="2377440" cy="1005840"/>
          </a:xfrm>
          <a:prstGeom prst="roundRect">
            <a:avLst>
              <a:gd name="adj" fmla="val 7273"/>
            </a:avLst>
          </a:prstGeom>
          <a:solidFill>
            <a:srgbClr val="152038"/>
          </a:solidFill>
          <a:ln w="15875">
            <a:solidFill>
              <a:srgbClr val="2A3A5C"/>
            </a:solidFill>
            <a:prstDash val="solid"/>
          </a:ln>
        </p:spPr>
      </p:sp>
      <p:sp>
        <p:nvSpPr>
          <p:cNvPr id="5" name="Text 2"/>
          <p:cNvSpPr txBox="1"/>
          <p:nvPr/>
        </p:nvSpPr>
        <p:spPr>
          <a:xfrm>
            <a:off x="640080" y="1554480"/>
            <a:ext cx="2194560" cy="365760"/>
          </a:xfrm>
          <a:prstGeom prst="rect">
            <a:avLst/>
          </a:prstGeom>
          <a:noFill/>
          <a:ln/>
        </p:spPr>
        <p:txBody>
          <a:bodyPr wrap="square" lIns="0" tIns="0" rIns="0" bIns="0" rtlCol="0" anchor="t"/>
          <a:lstStyle/>
          <a:p>
            <a:pPr algn="ctr" indent="0" marL="0">
              <a:buNone/>
            </a:pPr>
            <a:r>
              <a:rPr lang="en-US" sz="1800" b="1" dirty="0">
                <a:solidFill>
                  <a:srgbClr val="EAF0F8"/>
                </a:solidFill>
                <a:latin typeface="Cambria" pitchFamily="34" charset="0"/>
                <a:ea typeface="Cambria" pitchFamily="34" charset="-122"/>
                <a:cs typeface="Cambria" pitchFamily="34" charset="-120"/>
              </a:rPr>
              <a:t>Question</a:t>
            </a:r>
            <a:endParaRPr lang="en-US" sz="1800" dirty="0"/>
          </a:p>
        </p:txBody>
      </p:sp>
      <p:sp>
        <p:nvSpPr>
          <p:cNvPr id="6" name="Text 3"/>
          <p:cNvSpPr txBox="1"/>
          <p:nvPr/>
        </p:nvSpPr>
        <p:spPr>
          <a:xfrm>
            <a:off x="640080" y="1920240"/>
            <a:ext cx="2194560" cy="457200"/>
          </a:xfrm>
          <a:prstGeom prst="rect">
            <a:avLst/>
          </a:prstGeom>
          <a:noFill/>
          <a:ln/>
        </p:spPr>
        <p:txBody>
          <a:bodyPr wrap="square" lIns="0" tIns="0" rIns="0" bIns="0" rtlCol="0" anchor="t"/>
          <a:lstStyle/>
          <a:p>
            <a:pPr algn="ctr" indent="0" marL="0">
              <a:buNone/>
            </a:pPr>
            <a:r>
              <a:rPr lang="en-US" sz="1300" dirty="0">
                <a:solidFill>
                  <a:srgbClr val="A3B1C9"/>
                </a:solidFill>
                <a:latin typeface="Calibri" pitchFamily="34" charset="0"/>
                <a:ea typeface="Calibri" pitchFamily="34" charset="-122"/>
                <a:cs typeface="Calibri" pitchFamily="34" charset="-120"/>
              </a:rPr>
              <a:t>a why-question</a:t>
            </a:r>
            <a:endParaRPr lang="en-US" sz="1300" dirty="0"/>
          </a:p>
        </p:txBody>
      </p:sp>
      <p:sp>
        <p:nvSpPr>
          <p:cNvPr id="7" name="Shape 4"/>
          <p:cNvSpPr/>
          <p:nvPr/>
        </p:nvSpPr>
        <p:spPr>
          <a:xfrm>
            <a:off x="3474720" y="1463040"/>
            <a:ext cx="2377440" cy="1005840"/>
          </a:xfrm>
          <a:prstGeom prst="roundRect">
            <a:avLst>
              <a:gd name="adj" fmla="val 7273"/>
            </a:avLst>
          </a:prstGeom>
          <a:solidFill>
            <a:srgbClr val="152038"/>
          </a:solidFill>
          <a:ln w="15875">
            <a:solidFill>
              <a:srgbClr val="2A3A5C"/>
            </a:solidFill>
            <a:prstDash val="solid"/>
          </a:ln>
        </p:spPr>
      </p:sp>
      <p:sp>
        <p:nvSpPr>
          <p:cNvPr id="8" name="Text 5"/>
          <p:cNvSpPr txBox="1"/>
          <p:nvPr/>
        </p:nvSpPr>
        <p:spPr>
          <a:xfrm>
            <a:off x="3566160" y="1554480"/>
            <a:ext cx="2194560" cy="365760"/>
          </a:xfrm>
          <a:prstGeom prst="rect">
            <a:avLst/>
          </a:prstGeom>
          <a:noFill/>
          <a:ln/>
        </p:spPr>
        <p:txBody>
          <a:bodyPr wrap="square" lIns="0" tIns="0" rIns="0" bIns="0" rtlCol="0" anchor="t"/>
          <a:lstStyle/>
          <a:p>
            <a:pPr algn="ctr" indent="0" marL="0">
              <a:buNone/>
            </a:pPr>
            <a:r>
              <a:rPr lang="en-US" sz="1800" b="1" dirty="0">
                <a:solidFill>
                  <a:srgbClr val="EAF0F8"/>
                </a:solidFill>
                <a:latin typeface="Cambria" pitchFamily="34" charset="0"/>
                <a:ea typeface="Cambria" pitchFamily="34" charset="-122"/>
                <a:cs typeface="Cambria" pitchFamily="34" charset="-120"/>
              </a:rPr>
              <a:t>Scout Intent</a:t>
            </a:r>
            <a:endParaRPr lang="en-US" sz="1800" dirty="0"/>
          </a:p>
        </p:txBody>
      </p:sp>
      <p:sp>
        <p:nvSpPr>
          <p:cNvPr id="9" name="Text 6"/>
          <p:cNvSpPr txBox="1"/>
          <p:nvPr/>
        </p:nvSpPr>
        <p:spPr>
          <a:xfrm>
            <a:off x="3566160" y="1920240"/>
            <a:ext cx="2194560" cy="457200"/>
          </a:xfrm>
          <a:prstGeom prst="rect">
            <a:avLst/>
          </a:prstGeom>
          <a:noFill/>
          <a:ln/>
        </p:spPr>
        <p:txBody>
          <a:bodyPr wrap="square" lIns="0" tIns="0" rIns="0" bIns="0" rtlCol="0" anchor="t"/>
          <a:lstStyle/>
          <a:p>
            <a:pPr algn="ctr" indent="0" marL="0">
              <a:buNone/>
            </a:pPr>
            <a:r>
              <a:rPr lang="en-US" sz="1300" dirty="0">
                <a:solidFill>
                  <a:srgbClr val="A3B1C9"/>
                </a:solidFill>
                <a:latin typeface="Calibri" pitchFamily="34" charset="0"/>
                <a:ea typeface="Calibri" pitchFamily="34" charset="-122"/>
                <a:cs typeface="Calibri" pitchFamily="34" charset="-120"/>
              </a:rPr>
              <a:t>risk check, signed contract</a:t>
            </a:r>
            <a:endParaRPr lang="en-US" sz="1300" dirty="0"/>
          </a:p>
        </p:txBody>
      </p:sp>
      <p:sp>
        <p:nvSpPr>
          <p:cNvPr id="10" name="Shape 7"/>
          <p:cNvSpPr/>
          <p:nvPr/>
        </p:nvSpPr>
        <p:spPr>
          <a:xfrm>
            <a:off x="6400800" y="1463040"/>
            <a:ext cx="2377440" cy="1005840"/>
          </a:xfrm>
          <a:prstGeom prst="roundRect">
            <a:avLst>
              <a:gd name="adj" fmla="val 7273"/>
            </a:avLst>
          </a:prstGeom>
          <a:solidFill>
            <a:srgbClr val="152038"/>
          </a:solidFill>
          <a:ln w="15875">
            <a:solidFill>
              <a:srgbClr val="2A3A5C"/>
            </a:solidFill>
            <a:prstDash val="solid"/>
          </a:ln>
        </p:spPr>
      </p:sp>
      <p:sp>
        <p:nvSpPr>
          <p:cNvPr id="11" name="Text 8"/>
          <p:cNvSpPr txBox="1"/>
          <p:nvPr/>
        </p:nvSpPr>
        <p:spPr>
          <a:xfrm>
            <a:off x="6492240" y="1554480"/>
            <a:ext cx="2194560" cy="365760"/>
          </a:xfrm>
          <a:prstGeom prst="rect">
            <a:avLst/>
          </a:prstGeom>
          <a:noFill/>
          <a:ln/>
        </p:spPr>
        <p:txBody>
          <a:bodyPr wrap="square" lIns="0" tIns="0" rIns="0" bIns="0" rtlCol="0" anchor="t"/>
          <a:lstStyle/>
          <a:p>
            <a:pPr algn="ctr" indent="0" marL="0">
              <a:buNone/>
            </a:pPr>
            <a:r>
              <a:rPr lang="en-US" sz="1800" b="1" dirty="0">
                <a:solidFill>
                  <a:srgbClr val="EAF0F8"/>
                </a:solidFill>
                <a:latin typeface="Cambria" pitchFamily="34" charset="0"/>
                <a:ea typeface="Cambria" pitchFamily="34" charset="-122"/>
                <a:cs typeface="Cambria" pitchFamily="34" charset="-120"/>
              </a:rPr>
              <a:t>World Model</a:t>
            </a:r>
            <a:endParaRPr lang="en-US" sz="1800" dirty="0"/>
          </a:p>
        </p:txBody>
      </p:sp>
      <p:sp>
        <p:nvSpPr>
          <p:cNvPr id="12" name="Text 9"/>
          <p:cNvSpPr txBox="1"/>
          <p:nvPr/>
        </p:nvSpPr>
        <p:spPr>
          <a:xfrm>
            <a:off x="6492240" y="1920240"/>
            <a:ext cx="2194560" cy="457200"/>
          </a:xfrm>
          <a:prstGeom prst="rect">
            <a:avLst/>
          </a:prstGeom>
          <a:noFill/>
          <a:ln/>
        </p:spPr>
        <p:txBody>
          <a:bodyPr wrap="square" lIns="0" tIns="0" rIns="0" bIns="0" rtlCol="0" anchor="t"/>
          <a:lstStyle/>
          <a:p>
            <a:pPr algn="ctr" indent="0" marL="0">
              <a:buNone/>
            </a:pPr>
            <a:r>
              <a:rPr lang="en-US" sz="1300" dirty="0">
                <a:solidFill>
                  <a:srgbClr val="A3B1C9"/>
                </a:solidFill>
                <a:latin typeface="Calibri" pitchFamily="34" charset="0"/>
                <a:ea typeface="Calibri" pitchFamily="34" charset="-122"/>
                <a:cs typeface="Calibri" pitchFamily="34" charset="-120"/>
              </a:rPr>
              <a:t>grounds real CIK / SIC</a:t>
            </a:r>
            <a:endParaRPr lang="en-US" sz="1300" dirty="0"/>
          </a:p>
        </p:txBody>
      </p:sp>
      <p:sp>
        <p:nvSpPr>
          <p:cNvPr id="13" name="Shape 10"/>
          <p:cNvSpPr/>
          <p:nvPr/>
        </p:nvSpPr>
        <p:spPr>
          <a:xfrm>
            <a:off x="9326880" y="1463040"/>
            <a:ext cx="2377440" cy="1005840"/>
          </a:xfrm>
          <a:prstGeom prst="roundRect">
            <a:avLst>
              <a:gd name="adj" fmla="val 7273"/>
            </a:avLst>
          </a:prstGeom>
          <a:solidFill>
            <a:srgbClr val="152038"/>
          </a:solidFill>
          <a:ln w="15875">
            <a:solidFill>
              <a:srgbClr val="2A3A5C"/>
            </a:solidFill>
            <a:prstDash val="solid"/>
          </a:ln>
        </p:spPr>
      </p:sp>
      <p:sp>
        <p:nvSpPr>
          <p:cNvPr id="14" name="Text 11"/>
          <p:cNvSpPr txBox="1"/>
          <p:nvPr/>
        </p:nvSpPr>
        <p:spPr>
          <a:xfrm>
            <a:off x="9418320" y="1554480"/>
            <a:ext cx="2194560" cy="365760"/>
          </a:xfrm>
          <a:prstGeom prst="rect">
            <a:avLst/>
          </a:prstGeom>
          <a:noFill/>
          <a:ln/>
        </p:spPr>
        <p:txBody>
          <a:bodyPr wrap="square" lIns="0" tIns="0" rIns="0" bIns="0" rtlCol="0" anchor="t"/>
          <a:lstStyle/>
          <a:p>
            <a:pPr algn="ctr" indent="0" marL="0">
              <a:buNone/>
            </a:pPr>
            <a:r>
              <a:rPr lang="en-US" sz="1800" b="1" dirty="0">
                <a:solidFill>
                  <a:srgbClr val="EAF0F8"/>
                </a:solidFill>
                <a:latin typeface="Cambria" pitchFamily="34" charset="0"/>
                <a:ea typeface="Cambria" pitchFamily="34" charset="-122"/>
                <a:cs typeface="Cambria" pitchFamily="34" charset="-120"/>
              </a:rPr>
              <a:t>H-MEM recall</a:t>
            </a:r>
            <a:endParaRPr lang="en-US" sz="1800" dirty="0"/>
          </a:p>
        </p:txBody>
      </p:sp>
      <p:sp>
        <p:nvSpPr>
          <p:cNvPr id="15" name="Text 12"/>
          <p:cNvSpPr txBox="1"/>
          <p:nvPr/>
        </p:nvSpPr>
        <p:spPr>
          <a:xfrm>
            <a:off x="9418320" y="1920240"/>
            <a:ext cx="2194560" cy="457200"/>
          </a:xfrm>
          <a:prstGeom prst="rect">
            <a:avLst/>
          </a:prstGeom>
          <a:noFill/>
          <a:ln/>
        </p:spPr>
        <p:txBody>
          <a:bodyPr wrap="square" lIns="0" tIns="0" rIns="0" bIns="0" rtlCol="0" anchor="t"/>
          <a:lstStyle/>
          <a:p>
            <a:pPr algn="ctr" indent="0" marL="0">
              <a:buNone/>
            </a:pPr>
            <a:r>
              <a:rPr lang="en-US" sz="1300" dirty="0">
                <a:solidFill>
                  <a:srgbClr val="A3B1C9"/>
                </a:solidFill>
                <a:latin typeface="Calibri" pitchFamily="34" charset="0"/>
                <a:ea typeface="Calibri" pitchFamily="34" charset="-122"/>
                <a:cs typeface="Calibri" pitchFamily="34" charset="-120"/>
              </a:rPr>
              <a:t>prior verified findings</a:t>
            </a:r>
            <a:endParaRPr lang="en-US" sz="1300" dirty="0"/>
          </a:p>
        </p:txBody>
      </p:sp>
      <p:sp>
        <p:nvSpPr>
          <p:cNvPr id="16" name="Shape 13"/>
          <p:cNvSpPr/>
          <p:nvPr/>
        </p:nvSpPr>
        <p:spPr>
          <a:xfrm>
            <a:off x="2971800" y="1965960"/>
            <a:ext cx="457200" cy="0"/>
          </a:xfrm>
          <a:prstGeom prst="line">
            <a:avLst/>
          </a:prstGeom>
          <a:noFill/>
          <a:ln w="28575">
            <a:solidFill>
              <a:srgbClr val="4FD1C5"/>
            </a:solidFill>
            <a:prstDash val="solid"/>
            <a:tailEnd type="triangle"/>
          </a:ln>
        </p:spPr>
      </p:sp>
      <p:sp>
        <p:nvSpPr>
          <p:cNvPr id="17" name="Shape 14"/>
          <p:cNvSpPr/>
          <p:nvPr/>
        </p:nvSpPr>
        <p:spPr>
          <a:xfrm>
            <a:off x="5897880" y="1965960"/>
            <a:ext cx="457200" cy="0"/>
          </a:xfrm>
          <a:prstGeom prst="line">
            <a:avLst/>
          </a:prstGeom>
          <a:noFill/>
          <a:ln w="28575">
            <a:solidFill>
              <a:srgbClr val="4FD1C5"/>
            </a:solidFill>
            <a:prstDash val="solid"/>
            <a:tailEnd type="triangle"/>
          </a:ln>
        </p:spPr>
      </p:sp>
      <p:sp>
        <p:nvSpPr>
          <p:cNvPr id="18" name="Shape 15"/>
          <p:cNvSpPr/>
          <p:nvPr/>
        </p:nvSpPr>
        <p:spPr>
          <a:xfrm>
            <a:off x="8823960" y="1965960"/>
            <a:ext cx="457200" cy="0"/>
          </a:xfrm>
          <a:prstGeom prst="line">
            <a:avLst/>
          </a:prstGeom>
          <a:noFill/>
          <a:ln w="28575">
            <a:solidFill>
              <a:srgbClr val="4FD1C5"/>
            </a:solidFill>
            <a:prstDash val="solid"/>
            <a:tailEnd type="triangle"/>
          </a:ln>
        </p:spPr>
      </p:sp>
      <p:sp>
        <p:nvSpPr>
          <p:cNvPr id="19" name="Shape 16"/>
          <p:cNvSpPr/>
          <p:nvPr/>
        </p:nvSpPr>
        <p:spPr>
          <a:xfrm>
            <a:off x="10515600" y="2514600"/>
            <a:ext cx="0" cy="731520"/>
          </a:xfrm>
          <a:prstGeom prst="line">
            <a:avLst/>
          </a:prstGeom>
          <a:noFill/>
          <a:ln w="28575">
            <a:solidFill>
              <a:srgbClr val="4FD1C5"/>
            </a:solidFill>
            <a:prstDash val="solid"/>
            <a:tailEnd type="triangle"/>
          </a:ln>
        </p:spPr>
      </p:sp>
      <p:sp>
        <p:nvSpPr>
          <p:cNvPr id="20" name="Shape 17"/>
          <p:cNvSpPr/>
          <p:nvPr/>
        </p:nvSpPr>
        <p:spPr>
          <a:xfrm>
            <a:off x="548640" y="2926080"/>
            <a:ext cx="11155680" cy="1737360"/>
          </a:xfrm>
          <a:prstGeom prst="roundRect">
            <a:avLst>
              <a:gd name="adj" fmla="val 5263"/>
            </a:avLst>
          </a:prstGeom>
          <a:solidFill>
            <a:srgbClr val="0B1220"/>
          </a:solidFill>
          <a:ln w="15875">
            <a:solidFill>
              <a:srgbClr val="4FD1C5"/>
            </a:solidFill>
            <a:prstDash val="dash"/>
          </a:ln>
        </p:spPr>
      </p:sp>
      <p:sp>
        <p:nvSpPr>
          <p:cNvPr id="21" name="Text 18"/>
          <p:cNvSpPr txBox="1"/>
          <p:nvPr/>
        </p:nvSpPr>
        <p:spPr>
          <a:xfrm>
            <a:off x="777240" y="4297680"/>
            <a:ext cx="7315200" cy="274320"/>
          </a:xfrm>
          <a:prstGeom prst="rect">
            <a:avLst/>
          </a:prstGeom>
          <a:noFill/>
          <a:ln/>
        </p:spPr>
        <p:txBody>
          <a:bodyPr wrap="square" lIns="0" tIns="0" rIns="0" bIns="0" rtlCol="0" anchor="t"/>
          <a:lstStyle/>
          <a:p>
            <a:pPr indent="0" marL="0">
              <a:buNone/>
            </a:pPr>
            <a:r>
              <a:rPr lang="en-US" sz="1300" i="1" dirty="0">
                <a:solidFill>
                  <a:srgbClr val="4FD1C5"/>
                </a:solidFill>
                <a:latin typeface="Calibri" pitchFamily="34" charset="0"/>
                <a:ea typeface="Calibri" pitchFamily="34" charset="-122"/>
                <a:cs typeface="Calibri" pitchFamily="34" charset="-120"/>
              </a:rPr>
              <a:t>Markovian: bounded carried context per step (flat cost)</a:t>
            </a:r>
            <a:endParaRPr lang="en-US" sz="1300" dirty="0"/>
          </a:p>
        </p:txBody>
      </p:sp>
      <p:sp>
        <p:nvSpPr>
          <p:cNvPr id="22" name="Shape 19"/>
          <p:cNvSpPr/>
          <p:nvPr/>
        </p:nvSpPr>
        <p:spPr>
          <a:xfrm>
            <a:off x="8686800" y="3246120"/>
            <a:ext cx="2834640" cy="1005840"/>
          </a:xfrm>
          <a:prstGeom prst="roundRect">
            <a:avLst>
              <a:gd name="adj" fmla="val 7273"/>
            </a:avLst>
          </a:prstGeom>
          <a:solidFill>
            <a:srgbClr val="152038"/>
          </a:solidFill>
          <a:ln w="15875">
            <a:solidFill>
              <a:srgbClr val="2A3A5C"/>
            </a:solidFill>
            <a:prstDash val="solid"/>
          </a:ln>
        </p:spPr>
      </p:sp>
      <p:sp>
        <p:nvSpPr>
          <p:cNvPr id="23" name="Text 20"/>
          <p:cNvSpPr txBox="1"/>
          <p:nvPr/>
        </p:nvSpPr>
        <p:spPr>
          <a:xfrm>
            <a:off x="8778240" y="3337560"/>
            <a:ext cx="2651760" cy="365760"/>
          </a:xfrm>
          <a:prstGeom prst="rect">
            <a:avLst/>
          </a:prstGeom>
          <a:noFill/>
          <a:ln/>
        </p:spPr>
        <p:txBody>
          <a:bodyPr wrap="square" lIns="0" tIns="0" rIns="0" bIns="0" rtlCol="0" anchor="t"/>
          <a:lstStyle/>
          <a:p>
            <a:pPr algn="ctr" indent="0" marL="0">
              <a:buNone/>
            </a:pPr>
            <a:r>
              <a:rPr lang="en-US" sz="1600" b="1" dirty="0">
                <a:solidFill>
                  <a:srgbClr val="4FD1C5"/>
                </a:solidFill>
                <a:latin typeface="Cambria" pitchFamily="34" charset="0"/>
                <a:ea typeface="Cambria" pitchFamily="34" charset="-122"/>
                <a:cs typeface="Cambria" pitchFamily="34" charset="-120"/>
              </a:rPr>
              <a:t>Nemotron via Nightshift</a:t>
            </a:r>
            <a:endParaRPr lang="en-US" sz="1600" dirty="0"/>
          </a:p>
        </p:txBody>
      </p:sp>
      <p:sp>
        <p:nvSpPr>
          <p:cNvPr id="24" name="Text 21"/>
          <p:cNvSpPr txBox="1"/>
          <p:nvPr/>
        </p:nvSpPr>
        <p:spPr>
          <a:xfrm>
            <a:off x="8778240" y="3703320"/>
            <a:ext cx="2651760" cy="457200"/>
          </a:xfrm>
          <a:prstGeom prst="rect">
            <a:avLst/>
          </a:prstGeom>
          <a:noFill/>
          <a:ln/>
        </p:spPr>
        <p:txBody>
          <a:bodyPr wrap="square" lIns="0" tIns="0" rIns="0" bIns="0" rtlCol="0" anchor="t"/>
          <a:lstStyle/>
          <a:p>
            <a:pPr algn="ctr" indent="0" marL="0">
              <a:buNone/>
            </a:pPr>
            <a:r>
              <a:rPr lang="en-US" sz="1300" dirty="0">
                <a:solidFill>
                  <a:srgbClr val="A3B1C9"/>
                </a:solidFill>
                <a:latin typeface="Calibri" pitchFamily="34" charset="0"/>
                <a:ea typeface="Calibri" pitchFamily="34" charset="-122"/>
                <a:cs typeface="Calibri" pitchFamily="34" charset="-120"/>
              </a:rPr>
              <a:t>hypotheses, SQL, critic</a:t>
            </a:r>
            <a:endParaRPr lang="en-US" sz="1300" dirty="0"/>
          </a:p>
        </p:txBody>
      </p:sp>
      <p:sp>
        <p:nvSpPr>
          <p:cNvPr id="25" name="Shape 22"/>
          <p:cNvSpPr/>
          <p:nvPr/>
        </p:nvSpPr>
        <p:spPr>
          <a:xfrm>
            <a:off x="1005840" y="3246120"/>
            <a:ext cx="4754880" cy="1005840"/>
          </a:xfrm>
          <a:prstGeom prst="roundRect">
            <a:avLst>
              <a:gd name="adj" fmla="val 7273"/>
            </a:avLst>
          </a:prstGeom>
          <a:solidFill>
            <a:srgbClr val="152038"/>
          </a:solidFill>
          <a:ln w="15875">
            <a:solidFill>
              <a:srgbClr val="2A3A5C"/>
            </a:solidFill>
            <a:prstDash val="solid"/>
          </a:ln>
        </p:spPr>
      </p:sp>
      <p:sp>
        <p:nvSpPr>
          <p:cNvPr id="26" name="Text 23"/>
          <p:cNvSpPr txBox="1"/>
          <p:nvPr/>
        </p:nvSpPr>
        <p:spPr>
          <a:xfrm>
            <a:off x="1097280" y="3337560"/>
            <a:ext cx="4572000" cy="365760"/>
          </a:xfrm>
          <a:prstGeom prst="rect">
            <a:avLst/>
          </a:prstGeom>
          <a:noFill/>
          <a:ln/>
        </p:spPr>
        <p:txBody>
          <a:bodyPr wrap="square" lIns="0" tIns="0" rIns="0" bIns="0" rtlCol="0" anchor="t"/>
          <a:lstStyle/>
          <a:p>
            <a:pPr algn="ctr" indent="0" marL="0">
              <a:buNone/>
            </a:pPr>
            <a:r>
              <a:rPr lang="en-US" sz="1800" b="1" dirty="0">
                <a:solidFill>
                  <a:srgbClr val="4FD1C5"/>
                </a:solidFill>
                <a:latin typeface="Cambria" pitchFamily="34" charset="0"/>
                <a:ea typeface="Cambria" pitchFamily="34" charset="-122"/>
                <a:cs typeface="Cambria" pitchFamily="34" charset="-120"/>
              </a:rPr>
              <a:t>Zetaris SQL</a:t>
            </a:r>
            <a:endParaRPr lang="en-US" sz="1800" dirty="0"/>
          </a:p>
        </p:txBody>
      </p:sp>
      <p:sp>
        <p:nvSpPr>
          <p:cNvPr id="27" name="Text 24"/>
          <p:cNvSpPr txBox="1"/>
          <p:nvPr/>
        </p:nvSpPr>
        <p:spPr>
          <a:xfrm>
            <a:off x="1097280" y="3703320"/>
            <a:ext cx="4572000" cy="457200"/>
          </a:xfrm>
          <a:prstGeom prst="rect">
            <a:avLst/>
          </a:prstGeom>
          <a:noFill/>
          <a:ln/>
        </p:spPr>
        <p:txBody>
          <a:bodyPr wrap="square" lIns="0" tIns="0" rIns="0" bIns="0" rtlCol="0" anchor="t"/>
          <a:lstStyle/>
          <a:p>
            <a:pPr algn="ctr" indent="0" marL="0">
              <a:buNone/>
            </a:pPr>
            <a:r>
              <a:rPr lang="en-US" sz="1300" dirty="0">
                <a:solidFill>
                  <a:srgbClr val="A3B1C9"/>
                </a:solidFill>
                <a:latin typeface="Calibri" pitchFamily="34" charset="0"/>
                <a:ea typeface="Calibri" pitchFamily="34" charset="-122"/>
                <a:cs typeface="Calibri" pitchFamily="34" charset="-120"/>
              </a:rPr>
              <a:t>catalog, describe, read-only SELECT</a:t>
            </a:r>
            <a:endParaRPr lang="en-US" sz="1300" dirty="0"/>
          </a:p>
        </p:txBody>
      </p:sp>
      <p:sp>
        <p:nvSpPr>
          <p:cNvPr id="28" name="Shape 25"/>
          <p:cNvSpPr/>
          <p:nvPr/>
        </p:nvSpPr>
        <p:spPr>
          <a:xfrm flipH="1">
            <a:off x="5806440" y="3749040"/>
            <a:ext cx="2834640" cy="0"/>
          </a:xfrm>
          <a:prstGeom prst="line">
            <a:avLst/>
          </a:prstGeom>
          <a:noFill/>
          <a:ln w="28575">
            <a:solidFill>
              <a:srgbClr val="4FD1C5"/>
            </a:solidFill>
            <a:prstDash val="solid"/>
            <a:headEnd type="triangle"/>
            <a:tailEnd type="triangle"/>
          </a:ln>
        </p:spPr>
      </p:sp>
      <p:sp>
        <p:nvSpPr>
          <p:cNvPr id="29" name="Text 26"/>
          <p:cNvSpPr txBox="1"/>
          <p:nvPr/>
        </p:nvSpPr>
        <p:spPr>
          <a:xfrm>
            <a:off x="5943600" y="3456432"/>
            <a:ext cx="2377440" cy="274320"/>
          </a:xfrm>
          <a:prstGeom prst="rect">
            <a:avLst/>
          </a:prstGeom>
          <a:noFill/>
          <a:ln/>
        </p:spPr>
        <p:txBody>
          <a:bodyPr wrap="square" lIns="0" tIns="0" rIns="0" bIns="0" rtlCol="0" anchor="t"/>
          <a:lstStyle/>
          <a:p>
            <a:pPr algn="ctr" indent="0" marL="0">
              <a:buNone/>
            </a:pPr>
            <a:r>
              <a:rPr lang="en-US" sz="1200" dirty="0">
                <a:solidFill>
                  <a:srgbClr val="A3B1C9"/>
                </a:solidFill>
                <a:latin typeface="Calibri" pitchFamily="34" charset="0"/>
                <a:ea typeface="Calibri" pitchFamily="34" charset="-122"/>
                <a:cs typeface="Calibri" pitchFamily="34" charset="-120"/>
              </a:rPr>
              <a:t>retry with error fed back</a:t>
            </a:r>
            <a:endParaRPr lang="en-US" sz="1200" dirty="0"/>
          </a:p>
        </p:txBody>
      </p:sp>
      <p:sp>
        <p:nvSpPr>
          <p:cNvPr id="30" name="Shape 27"/>
          <p:cNvSpPr/>
          <p:nvPr/>
        </p:nvSpPr>
        <p:spPr>
          <a:xfrm>
            <a:off x="10515600" y="4709160"/>
            <a:ext cx="0" cy="502920"/>
          </a:xfrm>
          <a:prstGeom prst="line">
            <a:avLst/>
          </a:prstGeom>
          <a:noFill/>
          <a:ln w="28575">
            <a:solidFill>
              <a:srgbClr val="4FD1C5"/>
            </a:solidFill>
            <a:prstDash val="solid"/>
            <a:tailEnd type="triangle"/>
          </a:ln>
        </p:spPr>
      </p:sp>
      <p:sp>
        <p:nvSpPr>
          <p:cNvPr id="31" name="Shape 28"/>
          <p:cNvSpPr/>
          <p:nvPr/>
        </p:nvSpPr>
        <p:spPr>
          <a:xfrm>
            <a:off x="9326880" y="5212080"/>
            <a:ext cx="2377440" cy="1005840"/>
          </a:xfrm>
          <a:prstGeom prst="roundRect">
            <a:avLst>
              <a:gd name="adj" fmla="val 7273"/>
            </a:avLst>
          </a:prstGeom>
          <a:solidFill>
            <a:srgbClr val="152038"/>
          </a:solidFill>
          <a:ln w="15875">
            <a:solidFill>
              <a:srgbClr val="2A3A5C"/>
            </a:solidFill>
            <a:prstDash val="solid"/>
          </a:ln>
        </p:spPr>
      </p:sp>
      <p:sp>
        <p:nvSpPr>
          <p:cNvPr id="32" name="Text 29"/>
          <p:cNvSpPr txBox="1"/>
          <p:nvPr/>
        </p:nvSpPr>
        <p:spPr>
          <a:xfrm>
            <a:off x="9418320" y="5303520"/>
            <a:ext cx="2194560" cy="365760"/>
          </a:xfrm>
          <a:prstGeom prst="rect">
            <a:avLst/>
          </a:prstGeom>
          <a:noFill/>
          <a:ln/>
        </p:spPr>
        <p:txBody>
          <a:bodyPr wrap="square" lIns="0" tIns="0" rIns="0" bIns="0" rtlCol="0" anchor="t"/>
          <a:lstStyle/>
          <a:p>
            <a:pPr algn="ctr" indent="0" marL="0">
              <a:buNone/>
            </a:pPr>
            <a:r>
              <a:rPr lang="en-US" sz="1800" b="1" dirty="0">
                <a:solidFill>
                  <a:srgbClr val="EAF0F8"/>
                </a:solidFill>
                <a:latin typeface="Cambria" pitchFamily="34" charset="0"/>
                <a:ea typeface="Cambria" pitchFamily="34" charset="-122"/>
                <a:cs typeface="Cambria" pitchFamily="34" charset="-120"/>
              </a:rPr>
              <a:t>Critic</a:t>
            </a:r>
            <a:endParaRPr lang="en-US" sz="1800" dirty="0"/>
          </a:p>
        </p:txBody>
      </p:sp>
      <p:sp>
        <p:nvSpPr>
          <p:cNvPr id="33" name="Text 30"/>
          <p:cNvSpPr txBox="1"/>
          <p:nvPr/>
        </p:nvSpPr>
        <p:spPr>
          <a:xfrm>
            <a:off x="9418320" y="5669280"/>
            <a:ext cx="2194560" cy="457200"/>
          </a:xfrm>
          <a:prstGeom prst="rect">
            <a:avLst/>
          </a:prstGeom>
          <a:noFill/>
          <a:ln/>
        </p:spPr>
        <p:txBody>
          <a:bodyPr wrap="square" lIns="0" tIns="0" rIns="0" bIns="0" rtlCol="0" anchor="t"/>
          <a:lstStyle/>
          <a:p>
            <a:pPr algn="ctr" indent="0" marL="0">
              <a:buNone/>
            </a:pPr>
            <a:r>
              <a:rPr lang="en-US" sz="1300" dirty="0">
                <a:solidFill>
                  <a:srgbClr val="A3B1C9"/>
                </a:solidFill>
                <a:latin typeface="Calibri" pitchFamily="34" charset="0"/>
                <a:ea typeface="Calibri" pitchFamily="34" charset="-122"/>
                <a:cs typeface="Calibri" pitchFamily="34" charset="-120"/>
              </a:rPr>
              <a:t>second Nemotron pass + number check</a:t>
            </a:r>
            <a:endParaRPr lang="en-US" sz="1300" dirty="0"/>
          </a:p>
        </p:txBody>
      </p:sp>
      <p:sp>
        <p:nvSpPr>
          <p:cNvPr id="34" name="Shape 31"/>
          <p:cNvSpPr/>
          <p:nvPr/>
        </p:nvSpPr>
        <p:spPr>
          <a:xfrm>
            <a:off x="6400800" y="5212080"/>
            <a:ext cx="2377440" cy="1005840"/>
          </a:xfrm>
          <a:prstGeom prst="roundRect">
            <a:avLst>
              <a:gd name="adj" fmla="val 7273"/>
            </a:avLst>
          </a:prstGeom>
          <a:solidFill>
            <a:srgbClr val="152038"/>
          </a:solidFill>
          <a:ln w="15875">
            <a:solidFill>
              <a:srgbClr val="2A3A5C"/>
            </a:solidFill>
            <a:prstDash val="solid"/>
          </a:ln>
        </p:spPr>
      </p:sp>
      <p:sp>
        <p:nvSpPr>
          <p:cNvPr id="35" name="Text 32"/>
          <p:cNvSpPr txBox="1"/>
          <p:nvPr/>
        </p:nvSpPr>
        <p:spPr>
          <a:xfrm>
            <a:off x="6492240" y="5303520"/>
            <a:ext cx="2194560" cy="365760"/>
          </a:xfrm>
          <a:prstGeom prst="rect">
            <a:avLst/>
          </a:prstGeom>
          <a:noFill/>
          <a:ln/>
        </p:spPr>
        <p:txBody>
          <a:bodyPr wrap="square" lIns="0" tIns="0" rIns="0" bIns="0" rtlCol="0" anchor="t"/>
          <a:lstStyle/>
          <a:p>
            <a:pPr algn="ctr" indent="0" marL="0">
              <a:buNone/>
            </a:pPr>
            <a:r>
              <a:rPr lang="en-US" sz="1800" b="1" dirty="0">
                <a:solidFill>
                  <a:srgbClr val="EAF0F8"/>
                </a:solidFill>
                <a:latin typeface="Cambria" pitchFamily="34" charset="0"/>
                <a:ea typeface="Cambria" pitchFamily="34" charset="-122"/>
                <a:cs typeface="Cambria" pitchFamily="34" charset="-120"/>
              </a:rPr>
              <a:t>Answer</a:t>
            </a:r>
            <a:endParaRPr lang="en-US" sz="1800" dirty="0"/>
          </a:p>
        </p:txBody>
      </p:sp>
      <p:sp>
        <p:nvSpPr>
          <p:cNvPr id="36" name="Text 33"/>
          <p:cNvSpPr txBox="1"/>
          <p:nvPr/>
        </p:nvSpPr>
        <p:spPr>
          <a:xfrm>
            <a:off x="6492240" y="5669280"/>
            <a:ext cx="2194560" cy="457200"/>
          </a:xfrm>
          <a:prstGeom prst="rect">
            <a:avLst/>
          </a:prstGeom>
          <a:noFill/>
          <a:ln/>
        </p:spPr>
        <p:txBody>
          <a:bodyPr wrap="square" lIns="0" tIns="0" rIns="0" bIns="0" rtlCol="0" anchor="t"/>
          <a:lstStyle/>
          <a:p>
            <a:pPr algn="ctr" indent="0" marL="0">
              <a:buNone/>
            </a:pPr>
            <a:r>
              <a:rPr lang="en-US" sz="1300" dirty="0">
                <a:solidFill>
                  <a:srgbClr val="A3B1C9"/>
                </a:solidFill>
                <a:latin typeface="Calibri" pitchFamily="34" charset="0"/>
                <a:ea typeface="Calibri" pitchFamily="34" charset="-122"/>
                <a:cs typeface="Calibri" pitchFamily="34" charset="-120"/>
              </a:rPr>
              <a:t>ranked claims, evidence ids</a:t>
            </a:r>
            <a:endParaRPr lang="en-US" sz="1300" dirty="0"/>
          </a:p>
        </p:txBody>
      </p:sp>
      <p:sp>
        <p:nvSpPr>
          <p:cNvPr id="37" name="Shape 34"/>
          <p:cNvSpPr/>
          <p:nvPr/>
        </p:nvSpPr>
        <p:spPr>
          <a:xfrm>
            <a:off x="3474720" y="5212080"/>
            <a:ext cx="2377440" cy="1005840"/>
          </a:xfrm>
          <a:prstGeom prst="roundRect">
            <a:avLst>
              <a:gd name="adj" fmla="val 7273"/>
            </a:avLst>
          </a:prstGeom>
          <a:solidFill>
            <a:srgbClr val="152038"/>
          </a:solidFill>
          <a:ln w="15875">
            <a:solidFill>
              <a:srgbClr val="2A3A5C"/>
            </a:solidFill>
            <a:prstDash val="solid"/>
          </a:ln>
        </p:spPr>
      </p:sp>
      <p:sp>
        <p:nvSpPr>
          <p:cNvPr id="38" name="Text 35"/>
          <p:cNvSpPr txBox="1"/>
          <p:nvPr/>
        </p:nvSpPr>
        <p:spPr>
          <a:xfrm>
            <a:off x="3566160" y="5303520"/>
            <a:ext cx="2194560" cy="365760"/>
          </a:xfrm>
          <a:prstGeom prst="rect">
            <a:avLst/>
          </a:prstGeom>
          <a:noFill/>
          <a:ln/>
        </p:spPr>
        <p:txBody>
          <a:bodyPr wrap="square" lIns="0" tIns="0" rIns="0" bIns="0" rtlCol="0" anchor="t"/>
          <a:lstStyle/>
          <a:p>
            <a:pPr algn="ctr" indent="0" marL="0">
              <a:buNone/>
            </a:pPr>
            <a:r>
              <a:rPr lang="en-US" sz="1800" b="1" dirty="0">
                <a:solidFill>
                  <a:srgbClr val="EAF0F8"/>
                </a:solidFill>
                <a:latin typeface="Cambria" pitchFamily="34" charset="0"/>
                <a:ea typeface="Cambria" pitchFamily="34" charset="-122"/>
                <a:cs typeface="Cambria" pitchFamily="34" charset="-120"/>
              </a:rPr>
              <a:t>H-MEM remember</a:t>
            </a:r>
            <a:endParaRPr lang="en-US" sz="1800" dirty="0"/>
          </a:p>
        </p:txBody>
      </p:sp>
      <p:sp>
        <p:nvSpPr>
          <p:cNvPr id="39" name="Text 36"/>
          <p:cNvSpPr txBox="1"/>
          <p:nvPr/>
        </p:nvSpPr>
        <p:spPr>
          <a:xfrm>
            <a:off x="3566160" y="5669280"/>
            <a:ext cx="2194560" cy="457200"/>
          </a:xfrm>
          <a:prstGeom prst="rect">
            <a:avLst/>
          </a:prstGeom>
          <a:noFill/>
          <a:ln/>
        </p:spPr>
        <p:txBody>
          <a:bodyPr wrap="square" lIns="0" tIns="0" rIns="0" bIns="0" rtlCol="0" anchor="t"/>
          <a:lstStyle/>
          <a:p>
            <a:pPr algn="ctr" indent="0" marL="0">
              <a:buNone/>
            </a:pPr>
            <a:r>
              <a:rPr lang="en-US" sz="1300" dirty="0">
                <a:solidFill>
                  <a:srgbClr val="A3B1C9"/>
                </a:solidFill>
                <a:latin typeface="Calibri" pitchFamily="34" charset="0"/>
                <a:ea typeface="Calibri" pitchFamily="34" charset="-122"/>
                <a:cs typeface="Calibri" pitchFamily="34" charset="-120"/>
              </a:rPr>
              <a:t>derivedFrom evidence + query ids</a:t>
            </a:r>
            <a:endParaRPr lang="en-US" sz="1300" dirty="0"/>
          </a:p>
        </p:txBody>
      </p:sp>
      <p:sp>
        <p:nvSpPr>
          <p:cNvPr id="40" name="Shape 37"/>
          <p:cNvSpPr/>
          <p:nvPr/>
        </p:nvSpPr>
        <p:spPr>
          <a:xfrm flipH="1">
            <a:off x="8823960" y="5715000"/>
            <a:ext cx="457200" cy="0"/>
          </a:xfrm>
          <a:prstGeom prst="line">
            <a:avLst/>
          </a:prstGeom>
          <a:noFill/>
          <a:ln w="28575">
            <a:solidFill>
              <a:srgbClr val="4FD1C5"/>
            </a:solidFill>
            <a:prstDash val="solid"/>
            <a:tailEnd type="triangle"/>
          </a:ln>
        </p:spPr>
      </p:sp>
      <p:sp>
        <p:nvSpPr>
          <p:cNvPr id="41" name="Shape 38"/>
          <p:cNvSpPr/>
          <p:nvPr/>
        </p:nvSpPr>
        <p:spPr>
          <a:xfrm flipH="1">
            <a:off x="5897880" y="5715000"/>
            <a:ext cx="457200" cy="0"/>
          </a:xfrm>
          <a:prstGeom prst="line">
            <a:avLst/>
          </a:prstGeom>
          <a:noFill/>
          <a:ln w="28575">
            <a:solidFill>
              <a:srgbClr val="4FD1C5"/>
            </a:solidFill>
            <a:prstDash val="solid"/>
            <a:tailEnd type="triangle"/>
          </a:ln>
        </p:spPr>
      </p:sp>
      <p:sp>
        <p:nvSpPr>
          <p:cNvPr id="42" name="Text 39"/>
          <p:cNvSpPr txBox="1"/>
          <p:nvPr/>
        </p:nvSpPr>
        <p:spPr>
          <a:xfrm>
            <a:off x="548640" y="6355080"/>
            <a:ext cx="5486400" cy="274320"/>
          </a:xfrm>
          <a:prstGeom prst="rect">
            <a:avLst/>
          </a:prstGeom>
          <a:noFill/>
          <a:ln/>
        </p:spPr>
        <p:txBody>
          <a:bodyPr wrap="square" lIns="0" tIns="0" rIns="0" bIns="0" rtlCol="0" anchor="t"/>
          <a:lstStyle/>
          <a:p>
            <a:pPr indent="0" marL="0">
              <a:buNone/>
            </a:pPr>
            <a:r>
              <a:rPr lang="en-US" sz="1300" dirty="0">
                <a:solidFill>
                  <a:srgbClr val="A3B1C9"/>
                </a:solidFill>
                <a:latin typeface="Calibri" pitchFamily="34" charset="0"/>
                <a:ea typeface="Calibri" pitchFamily="34" charset="-122"/>
                <a:cs typeface="Calibri" pitchFamily="34" charset="-120"/>
              </a:rPr>
              <a:t>Streams live to the web UI over Server-Sent Events</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800" b="1" dirty="0">
                <a:solidFill>
                  <a:srgbClr val="EAF0F8"/>
                </a:solidFill>
                <a:latin typeface="Cambria" pitchFamily="34" charset="0"/>
                <a:ea typeface="Cambria" pitchFamily="34" charset="-122"/>
                <a:cs typeface="Cambria" pitchFamily="34" charset="-120"/>
              </a:rPr>
              <a:t>Technical stack</a:t>
            </a:r>
            <a:endParaRPr lang="en-US" sz="3800" dirty="0"/>
          </a:p>
        </p:txBody>
      </p:sp>
      <p:sp>
        <p:nvSpPr>
          <p:cNvPr id="4" name="Shape 1"/>
          <p:cNvSpPr/>
          <p:nvPr/>
        </p:nvSpPr>
        <p:spPr>
          <a:xfrm>
            <a:off x="548640" y="1463040"/>
            <a:ext cx="5458968" cy="1024128"/>
          </a:xfrm>
          <a:prstGeom prst="roundRect">
            <a:avLst>
              <a:gd name="adj" fmla="val 7143"/>
            </a:avLst>
          </a:prstGeom>
          <a:solidFill>
            <a:srgbClr val="152038"/>
          </a:solidFill>
          <a:ln w="12700">
            <a:solidFill>
              <a:srgbClr val="2A3A5C"/>
            </a:solidFill>
            <a:prstDash val="solid"/>
          </a:ln>
        </p:spPr>
      </p:sp>
      <p:sp>
        <p:nvSpPr>
          <p:cNvPr id="5" name="Text 2"/>
          <p:cNvSpPr txBox="1"/>
          <p:nvPr/>
        </p:nvSpPr>
        <p:spPr>
          <a:xfrm>
            <a:off x="777240" y="1591056"/>
            <a:ext cx="5029200" cy="320040"/>
          </a:xfrm>
          <a:prstGeom prst="rect">
            <a:avLst/>
          </a:prstGeom>
          <a:noFill/>
          <a:ln/>
        </p:spPr>
        <p:txBody>
          <a:bodyPr wrap="square" lIns="0" tIns="0" rIns="0" bIns="0" rtlCol="0" anchor="t"/>
          <a:lstStyle/>
          <a:p>
            <a:pPr indent="0" marL="0">
              <a:buNone/>
            </a:pPr>
            <a:r>
              <a:rPr lang="en-US" sz="1800" b="1" dirty="0">
                <a:solidFill>
                  <a:srgbClr val="4FD1C5"/>
                </a:solidFill>
                <a:latin typeface="Cambria" pitchFamily="34" charset="0"/>
                <a:ea typeface="Cambria" pitchFamily="34" charset="-122"/>
                <a:cs typeface="Cambria" pitchFamily="34" charset="-120"/>
              </a:rPr>
              <a:t>Data</a:t>
            </a:r>
            <a:endParaRPr lang="en-US" sz="1800" dirty="0"/>
          </a:p>
        </p:txBody>
      </p:sp>
      <p:sp>
        <p:nvSpPr>
          <p:cNvPr id="6" name="Text 3"/>
          <p:cNvSpPr txBox="1"/>
          <p:nvPr/>
        </p:nvSpPr>
        <p:spPr>
          <a:xfrm>
            <a:off x="777240" y="1938528"/>
            <a:ext cx="5029200" cy="502920"/>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Zetaris Lightning SQL over REST, federated sources + Unified Semantic Layer</a:t>
            </a:r>
            <a:endParaRPr lang="en-US" sz="1500" dirty="0"/>
          </a:p>
        </p:txBody>
      </p:sp>
      <p:sp>
        <p:nvSpPr>
          <p:cNvPr id="7" name="Shape 4"/>
          <p:cNvSpPr/>
          <p:nvPr/>
        </p:nvSpPr>
        <p:spPr>
          <a:xfrm>
            <a:off x="6245352" y="1463040"/>
            <a:ext cx="5458968" cy="1024128"/>
          </a:xfrm>
          <a:prstGeom prst="roundRect">
            <a:avLst>
              <a:gd name="adj" fmla="val 7143"/>
            </a:avLst>
          </a:prstGeom>
          <a:solidFill>
            <a:srgbClr val="152038"/>
          </a:solidFill>
          <a:ln w="12700">
            <a:solidFill>
              <a:srgbClr val="2A3A5C"/>
            </a:solidFill>
            <a:prstDash val="solid"/>
          </a:ln>
        </p:spPr>
      </p:sp>
      <p:sp>
        <p:nvSpPr>
          <p:cNvPr id="8" name="Text 5"/>
          <p:cNvSpPr txBox="1"/>
          <p:nvPr/>
        </p:nvSpPr>
        <p:spPr>
          <a:xfrm>
            <a:off x="6473952" y="1591056"/>
            <a:ext cx="5029200" cy="320040"/>
          </a:xfrm>
          <a:prstGeom prst="rect">
            <a:avLst/>
          </a:prstGeom>
          <a:noFill/>
          <a:ln/>
        </p:spPr>
        <p:txBody>
          <a:bodyPr wrap="square" lIns="0" tIns="0" rIns="0" bIns="0" rtlCol="0" anchor="t"/>
          <a:lstStyle/>
          <a:p>
            <a:pPr indent="0" marL="0">
              <a:buNone/>
            </a:pPr>
            <a:r>
              <a:rPr lang="en-US" sz="1800" b="1" dirty="0">
                <a:solidFill>
                  <a:srgbClr val="4FD1C5"/>
                </a:solidFill>
                <a:latin typeface="Cambria" pitchFamily="34" charset="0"/>
                <a:ea typeface="Cambria" pitchFamily="34" charset="-122"/>
                <a:cs typeface="Cambria" pitchFamily="34" charset="-120"/>
              </a:rPr>
              <a:t>Power</a:t>
            </a:r>
            <a:endParaRPr lang="en-US" sz="1800" dirty="0"/>
          </a:p>
        </p:txBody>
      </p:sp>
      <p:sp>
        <p:nvSpPr>
          <p:cNvPr id="9" name="Text 6"/>
          <p:cNvSpPr txBox="1"/>
          <p:nvPr/>
        </p:nvSpPr>
        <p:spPr>
          <a:xfrm>
            <a:off x="6473952" y="1938528"/>
            <a:ext cx="5029200" cy="502920"/>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Meterless Nightshift, OpenAI-compatible runtime (primary AI provider)</a:t>
            </a:r>
            <a:endParaRPr lang="en-US" sz="1500" dirty="0"/>
          </a:p>
        </p:txBody>
      </p:sp>
      <p:sp>
        <p:nvSpPr>
          <p:cNvPr id="10" name="Shape 7"/>
          <p:cNvSpPr/>
          <p:nvPr/>
        </p:nvSpPr>
        <p:spPr>
          <a:xfrm>
            <a:off x="548640" y="2651760"/>
            <a:ext cx="5458968" cy="1024128"/>
          </a:xfrm>
          <a:prstGeom prst="roundRect">
            <a:avLst>
              <a:gd name="adj" fmla="val 7143"/>
            </a:avLst>
          </a:prstGeom>
          <a:solidFill>
            <a:srgbClr val="152038"/>
          </a:solidFill>
          <a:ln w="12700">
            <a:solidFill>
              <a:srgbClr val="2A3A5C"/>
            </a:solidFill>
            <a:prstDash val="solid"/>
          </a:ln>
        </p:spPr>
      </p:sp>
      <p:sp>
        <p:nvSpPr>
          <p:cNvPr id="11" name="Text 8"/>
          <p:cNvSpPr txBox="1"/>
          <p:nvPr/>
        </p:nvSpPr>
        <p:spPr>
          <a:xfrm>
            <a:off x="777240" y="2779776"/>
            <a:ext cx="5029200" cy="320040"/>
          </a:xfrm>
          <a:prstGeom prst="rect">
            <a:avLst/>
          </a:prstGeom>
          <a:noFill/>
          <a:ln/>
        </p:spPr>
        <p:txBody>
          <a:bodyPr wrap="square" lIns="0" tIns="0" rIns="0" bIns="0" rtlCol="0" anchor="t"/>
          <a:lstStyle/>
          <a:p>
            <a:pPr indent="0" marL="0">
              <a:buNone/>
            </a:pPr>
            <a:r>
              <a:rPr lang="en-US" sz="1800" b="1" dirty="0">
                <a:solidFill>
                  <a:srgbClr val="4FD1C5"/>
                </a:solidFill>
                <a:latin typeface="Cambria" pitchFamily="34" charset="0"/>
                <a:ea typeface="Cambria" pitchFamily="34" charset="-122"/>
                <a:cs typeface="Cambria" pitchFamily="34" charset="-120"/>
              </a:rPr>
              <a:t>Model</a:t>
            </a:r>
            <a:endParaRPr lang="en-US" sz="1800" dirty="0"/>
          </a:p>
        </p:txBody>
      </p:sp>
      <p:sp>
        <p:nvSpPr>
          <p:cNvPr id="12" name="Text 9"/>
          <p:cNvSpPr txBox="1"/>
          <p:nvPr/>
        </p:nvSpPr>
        <p:spPr>
          <a:xfrm>
            <a:off x="777240" y="3127248"/>
            <a:ext cx="5029200" cy="502920"/>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NVIDIA Nemotron models, served through Nightshift</a:t>
            </a:r>
            <a:endParaRPr lang="en-US" sz="1500" dirty="0"/>
          </a:p>
        </p:txBody>
      </p:sp>
      <p:sp>
        <p:nvSpPr>
          <p:cNvPr id="13" name="Shape 10"/>
          <p:cNvSpPr/>
          <p:nvPr/>
        </p:nvSpPr>
        <p:spPr>
          <a:xfrm>
            <a:off x="6245352" y="2651760"/>
            <a:ext cx="5458968" cy="1024128"/>
          </a:xfrm>
          <a:prstGeom prst="roundRect">
            <a:avLst>
              <a:gd name="adj" fmla="val 7143"/>
            </a:avLst>
          </a:prstGeom>
          <a:solidFill>
            <a:srgbClr val="152038"/>
          </a:solidFill>
          <a:ln w="12700">
            <a:solidFill>
              <a:srgbClr val="2A3A5C"/>
            </a:solidFill>
            <a:prstDash val="solid"/>
          </a:ln>
        </p:spPr>
      </p:sp>
      <p:sp>
        <p:nvSpPr>
          <p:cNvPr id="14" name="Text 11"/>
          <p:cNvSpPr txBox="1"/>
          <p:nvPr/>
        </p:nvSpPr>
        <p:spPr>
          <a:xfrm>
            <a:off x="6473952" y="2779776"/>
            <a:ext cx="5029200" cy="320040"/>
          </a:xfrm>
          <a:prstGeom prst="rect">
            <a:avLst/>
          </a:prstGeom>
          <a:noFill/>
          <a:ln/>
        </p:spPr>
        <p:txBody>
          <a:bodyPr wrap="square" lIns="0" tIns="0" rIns="0" bIns="0" rtlCol="0" anchor="t"/>
          <a:lstStyle/>
          <a:p>
            <a:pPr indent="0" marL="0">
              <a:buNone/>
            </a:pPr>
            <a:r>
              <a:rPr lang="en-US" sz="1800" b="1" dirty="0">
                <a:solidFill>
                  <a:srgbClr val="4FD1C5"/>
                </a:solidFill>
                <a:latin typeface="Cambria" pitchFamily="34" charset="0"/>
                <a:ea typeface="Cambria" pitchFamily="34" charset="-122"/>
                <a:cs typeface="Cambria" pitchFamily="34" charset="-120"/>
              </a:rPr>
              <a:t>Memory</a:t>
            </a:r>
            <a:endParaRPr lang="en-US" sz="1800" dirty="0"/>
          </a:p>
        </p:txBody>
      </p:sp>
      <p:sp>
        <p:nvSpPr>
          <p:cNvPr id="15" name="Text 12"/>
          <p:cNvSpPr txBox="1"/>
          <p:nvPr/>
        </p:nvSpPr>
        <p:spPr>
          <a:xfrm>
            <a:off x="6473952" y="3127248"/>
            <a:ext cx="5029200" cy="502920"/>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Meterless H-MEM</a:t>
            </a:r>
            <a:endParaRPr lang="en-US" sz="1500" dirty="0"/>
          </a:p>
        </p:txBody>
      </p:sp>
      <p:sp>
        <p:nvSpPr>
          <p:cNvPr id="16" name="Shape 13"/>
          <p:cNvSpPr/>
          <p:nvPr/>
        </p:nvSpPr>
        <p:spPr>
          <a:xfrm>
            <a:off x="548640" y="3840480"/>
            <a:ext cx="5458968" cy="1024128"/>
          </a:xfrm>
          <a:prstGeom prst="roundRect">
            <a:avLst>
              <a:gd name="adj" fmla="val 7143"/>
            </a:avLst>
          </a:prstGeom>
          <a:solidFill>
            <a:srgbClr val="152038"/>
          </a:solidFill>
          <a:ln w="12700">
            <a:solidFill>
              <a:srgbClr val="2A3A5C"/>
            </a:solidFill>
            <a:prstDash val="solid"/>
          </a:ln>
        </p:spPr>
      </p:sp>
      <p:sp>
        <p:nvSpPr>
          <p:cNvPr id="17" name="Text 14"/>
          <p:cNvSpPr txBox="1"/>
          <p:nvPr/>
        </p:nvSpPr>
        <p:spPr>
          <a:xfrm>
            <a:off x="777240" y="3968496"/>
            <a:ext cx="5029200" cy="320040"/>
          </a:xfrm>
          <a:prstGeom prst="rect">
            <a:avLst/>
          </a:prstGeom>
          <a:noFill/>
          <a:ln/>
        </p:spPr>
        <p:txBody>
          <a:bodyPr wrap="square" lIns="0" tIns="0" rIns="0" bIns="0" rtlCol="0" anchor="t"/>
          <a:lstStyle/>
          <a:p>
            <a:pPr indent="0" marL="0">
              <a:buNone/>
            </a:pPr>
            <a:r>
              <a:rPr lang="en-US" sz="1800" b="1" dirty="0">
                <a:solidFill>
                  <a:srgbClr val="4FD1C5"/>
                </a:solidFill>
                <a:latin typeface="Cambria" pitchFamily="34" charset="0"/>
                <a:ea typeface="Cambria" pitchFamily="34" charset="-122"/>
                <a:cs typeface="Cambria" pitchFamily="34" charset="-120"/>
              </a:rPr>
              <a:t>Grounding</a:t>
            </a:r>
            <a:endParaRPr lang="en-US" sz="1800" dirty="0"/>
          </a:p>
        </p:txBody>
      </p:sp>
      <p:sp>
        <p:nvSpPr>
          <p:cNvPr id="18" name="Text 15"/>
          <p:cNvSpPr txBox="1"/>
          <p:nvPr/>
        </p:nvSpPr>
        <p:spPr>
          <a:xfrm>
            <a:off x="777240" y="4315968"/>
            <a:ext cx="5029200" cy="502920"/>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Meterless World Model</a:t>
            </a:r>
            <a:endParaRPr lang="en-US" sz="1500" dirty="0"/>
          </a:p>
        </p:txBody>
      </p:sp>
      <p:sp>
        <p:nvSpPr>
          <p:cNvPr id="19" name="Shape 16"/>
          <p:cNvSpPr/>
          <p:nvPr/>
        </p:nvSpPr>
        <p:spPr>
          <a:xfrm>
            <a:off x="6245352" y="3840480"/>
            <a:ext cx="5458968" cy="1024128"/>
          </a:xfrm>
          <a:prstGeom prst="roundRect">
            <a:avLst>
              <a:gd name="adj" fmla="val 7143"/>
            </a:avLst>
          </a:prstGeom>
          <a:solidFill>
            <a:srgbClr val="152038"/>
          </a:solidFill>
          <a:ln w="12700">
            <a:solidFill>
              <a:srgbClr val="2A3A5C"/>
            </a:solidFill>
            <a:prstDash val="solid"/>
          </a:ln>
        </p:spPr>
      </p:sp>
      <p:sp>
        <p:nvSpPr>
          <p:cNvPr id="20" name="Text 17"/>
          <p:cNvSpPr txBox="1"/>
          <p:nvPr/>
        </p:nvSpPr>
        <p:spPr>
          <a:xfrm>
            <a:off x="6473952" y="3968496"/>
            <a:ext cx="5029200" cy="320040"/>
          </a:xfrm>
          <a:prstGeom prst="rect">
            <a:avLst/>
          </a:prstGeom>
          <a:noFill/>
          <a:ln/>
        </p:spPr>
        <p:txBody>
          <a:bodyPr wrap="square" lIns="0" tIns="0" rIns="0" bIns="0" rtlCol="0" anchor="t"/>
          <a:lstStyle/>
          <a:p>
            <a:pPr indent="0" marL="0">
              <a:buNone/>
            </a:pPr>
            <a:r>
              <a:rPr lang="en-US" sz="1800" b="1" dirty="0">
                <a:solidFill>
                  <a:srgbClr val="4FD1C5"/>
                </a:solidFill>
                <a:latin typeface="Cambria" pitchFamily="34" charset="0"/>
                <a:ea typeface="Cambria" pitchFamily="34" charset="-122"/>
                <a:cs typeface="Cambria" pitchFamily="34" charset="-120"/>
              </a:rPr>
              <a:t>Context</a:t>
            </a:r>
            <a:endParaRPr lang="en-US" sz="1800" dirty="0"/>
          </a:p>
        </p:txBody>
      </p:sp>
      <p:sp>
        <p:nvSpPr>
          <p:cNvPr id="21" name="Text 18"/>
          <p:cNvSpPr txBox="1"/>
          <p:nvPr/>
        </p:nvSpPr>
        <p:spPr>
          <a:xfrm>
            <a:off x="6473952" y="4315968"/>
            <a:ext cx="5029200" cy="502920"/>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Meterless Markovian</a:t>
            </a:r>
            <a:endParaRPr lang="en-US" sz="1500" dirty="0"/>
          </a:p>
        </p:txBody>
      </p:sp>
      <p:sp>
        <p:nvSpPr>
          <p:cNvPr id="22" name="Shape 19"/>
          <p:cNvSpPr/>
          <p:nvPr/>
        </p:nvSpPr>
        <p:spPr>
          <a:xfrm>
            <a:off x="548640" y="5029200"/>
            <a:ext cx="5458968" cy="1024128"/>
          </a:xfrm>
          <a:prstGeom prst="roundRect">
            <a:avLst>
              <a:gd name="adj" fmla="val 7143"/>
            </a:avLst>
          </a:prstGeom>
          <a:solidFill>
            <a:srgbClr val="152038"/>
          </a:solidFill>
          <a:ln w="12700">
            <a:solidFill>
              <a:srgbClr val="2A3A5C"/>
            </a:solidFill>
            <a:prstDash val="solid"/>
          </a:ln>
        </p:spPr>
      </p:sp>
      <p:sp>
        <p:nvSpPr>
          <p:cNvPr id="23" name="Text 20"/>
          <p:cNvSpPr txBox="1"/>
          <p:nvPr/>
        </p:nvSpPr>
        <p:spPr>
          <a:xfrm>
            <a:off x="777240" y="5157216"/>
            <a:ext cx="5029200" cy="320040"/>
          </a:xfrm>
          <a:prstGeom prst="rect">
            <a:avLst/>
          </a:prstGeom>
          <a:noFill/>
          <a:ln/>
        </p:spPr>
        <p:txBody>
          <a:bodyPr wrap="square" lIns="0" tIns="0" rIns="0" bIns="0" rtlCol="0" anchor="t"/>
          <a:lstStyle/>
          <a:p>
            <a:pPr indent="0" marL="0">
              <a:buNone/>
            </a:pPr>
            <a:r>
              <a:rPr lang="en-US" sz="1800" b="1" dirty="0">
                <a:solidFill>
                  <a:srgbClr val="4FD1C5"/>
                </a:solidFill>
                <a:latin typeface="Cambria" pitchFamily="34" charset="0"/>
                <a:ea typeface="Cambria" pitchFamily="34" charset="-122"/>
                <a:cs typeface="Cambria" pitchFamily="34" charset="-120"/>
              </a:rPr>
              <a:t>Intent and safety</a:t>
            </a:r>
            <a:endParaRPr lang="en-US" sz="1800" dirty="0"/>
          </a:p>
        </p:txBody>
      </p:sp>
      <p:sp>
        <p:nvSpPr>
          <p:cNvPr id="24" name="Text 21"/>
          <p:cNvSpPr txBox="1"/>
          <p:nvPr/>
        </p:nvSpPr>
        <p:spPr>
          <a:xfrm>
            <a:off x="777240" y="5504688"/>
            <a:ext cx="5029200" cy="502920"/>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Meterless Scout Intent</a:t>
            </a:r>
            <a:endParaRPr lang="en-US" sz="1500" dirty="0"/>
          </a:p>
        </p:txBody>
      </p:sp>
      <p:sp>
        <p:nvSpPr>
          <p:cNvPr id="25" name="Shape 22"/>
          <p:cNvSpPr/>
          <p:nvPr/>
        </p:nvSpPr>
        <p:spPr>
          <a:xfrm>
            <a:off x="6245352" y="5029200"/>
            <a:ext cx="5458968" cy="1024128"/>
          </a:xfrm>
          <a:prstGeom prst="roundRect">
            <a:avLst>
              <a:gd name="adj" fmla="val 7143"/>
            </a:avLst>
          </a:prstGeom>
          <a:solidFill>
            <a:srgbClr val="152038"/>
          </a:solidFill>
          <a:ln w="12700">
            <a:solidFill>
              <a:srgbClr val="2A3A5C"/>
            </a:solidFill>
            <a:prstDash val="solid"/>
          </a:ln>
        </p:spPr>
      </p:sp>
      <p:sp>
        <p:nvSpPr>
          <p:cNvPr id="26" name="Text 23"/>
          <p:cNvSpPr txBox="1"/>
          <p:nvPr/>
        </p:nvSpPr>
        <p:spPr>
          <a:xfrm>
            <a:off x="6473952" y="5157216"/>
            <a:ext cx="5029200" cy="320040"/>
          </a:xfrm>
          <a:prstGeom prst="rect">
            <a:avLst/>
          </a:prstGeom>
          <a:noFill/>
          <a:ln/>
        </p:spPr>
        <p:txBody>
          <a:bodyPr wrap="square" lIns="0" tIns="0" rIns="0" bIns="0" rtlCol="0" anchor="t"/>
          <a:lstStyle/>
          <a:p>
            <a:pPr indent="0" marL="0">
              <a:buNone/>
            </a:pPr>
            <a:r>
              <a:rPr lang="en-US" sz="1800" b="1" dirty="0">
                <a:solidFill>
                  <a:srgbClr val="4FD1C5"/>
                </a:solidFill>
                <a:latin typeface="Cambria" pitchFamily="34" charset="0"/>
                <a:ea typeface="Cambria" pitchFamily="34" charset="-122"/>
                <a:cs typeface="Cambria" pitchFamily="34" charset="-120"/>
              </a:rPr>
              <a:t>UI and API</a:t>
            </a:r>
            <a:endParaRPr lang="en-US" sz="1800" dirty="0"/>
          </a:p>
        </p:txBody>
      </p:sp>
      <p:sp>
        <p:nvSpPr>
          <p:cNvPr id="27" name="Text 24"/>
          <p:cNvSpPr txBox="1"/>
          <p:nvPr/>
        </p:nvSpPr>
        <p:spPr>
          <a:xfrm>
            <a:off x="6473952" y="5504688"/>
            <a:ext cx="5029200" cy="502920"/>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Vite + React + TypeScript; Node 22 + Hono, SSE</a:t>
            </a:r>
            <a:endParaRPr lang="en-US" sz="1500" dirty="0"/>
          </a:p>
        </p:txBody>
      </p:sp>
      <p:sp>
        <p:nvSpPr>
          <p:cNvPr id="28" name="Text 25"/>
          <p:cNvSpPr txBox="1"/>
          <p:nvPr/>
        </p:nvSpPr>
        <p:spPr>
          <a:xfrm>
            <a:off x="548640" y="6263640"/>
            <a:ext cx="7315200" cy="274320"/>
          </a:xfrm>
          <a:prstGeom prst="rect">
            <a:avLst/>
          </a:prstGeom>
          <a:noFill/>
          <a:ln/>
        </p:spPr>
        <p:txBody>
          <a:bodyPr wrap="square" lIns="0" tIns="0" rIns="0" bIns="0" rtlCol="0" anchor="t"/>
          <a:lstStyle/>
          <a:p>
            <a:pPr indent="0" marL="0">
              <a:buNone/>
            </a:pPr>
            <a:r>
              <a:rPr lang="en-US" sz="1300" dirty="0">
                <a:solidFill>
                  <a:srgbClr val="A3B1C9"/>
                </a:solidFill>
                <a:latin typeface="Calibri" pitchFamily="34" charset="0"/>
                <a:ea typeface="Calibri" pitchFamily="34" charset="-122"/>
                <a:cs typeface="Calibri" pitchFamily="34" charset="-120"/>
              </a:rPr>
              <a:t>Built with Claude Code. Cursor was not used.</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800" b="1" dirty="0">
                <a:solidFill>
                  <a:srgbClr val="EAF0F8"/>
                </a:solidFill>
                <a:latin typeface="Cambria" pitchFamily="34" charset="0"/>
                <a:ea typeface="Cambria" pitchFamily="34" charset="-122"/>
                <a:cs typeface="Cambria" pitchFamily="34" charset="-120"/>
              </a:rPr>
              <a:t>How Zetaris and Meterless were used</a:t>
            </a:r>
            <a:endParaRPr lang="en-US" sz="3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834640"/>
                <a:gridCol w="8229600"/>
              </a:tblGrid>
              <a:tr h="512064">
                <a:tc>
                  <a:txBody>
                    <a:bodyPr/>
                    <a:lstStyle/>
                    <a:p>
                      <a:pPr indent="0" marL="0">
                        <a:buNone/>
                      </a:pPr>
                      <a:r>
                        <a:rPr lang="en-US" sz="1500" b="1" dirty="0">
                          <a:solidFill>
                            <a:srgbClr val="0B1220"/>
                          </a:solidFill>
                          <a:latin typeface="Cambria" pitchFamily="34" charset="0"/>
                          <a:ea typeface="Cambria" pitchFamily="34" charset="-122"/>
                          <a:cs typeface="Cambria" pitchFamily="34" charset="-120"/>
                        </a:rPr>
                        <a:t>Technology</a:t>
                      </a:r>
                      <a:endParaRPr lang="en-US" sz="1500" dirty="0">
                        <a:latin typeface="Cambria" charset="0"/>
                        <a:ea typeface="Cambria" charset="0"/>
                        <a:cs typeface="Cambria"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4FD1C5"/>
                    </a:solidFill>
                  </a:tcPr>
                </a:tc>
                <a:tc>
                  <a:txBody>
                    <a:bodyPr/>
                    <a:lstStyle/>
                    <a:p>
                      <a:pPr indent="0" marL="0">
                        <a:buNone/>
                      </a:pPr>
                      <a:r>
                        <a:rPr lang="en-US" sz="1500" b="1" dirty="0">
                          <a:solidFill>
                            <a:srgbClr val="0B1220"/>
                          </a:solidFill>
                          <a:latin typeface="Cambria" pitchFamily="34" charset="0"/>
                          <a:ea typeface="Cambria" pitchFamily="34" charset="-122"/>
                          <a:cs typeface="Cambria" pitchFamily="34" charset="-120"/>
                        </a:rPr>
                        <a:t>What it does in Causa</a:t>
                      </a:r>
                      <a:endParaRPr lang="en-US" sz="1500" dirty="0">
                        <a:latin typeface="Cambria" charset="0"/>
                        <a:ea typeface="Cambria" charset="0"/>
                        <a:cs typeface="Cambria"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4FD1C5"/>
                    </a:solidFill>
                  </a:tcPr>
                </a:tc>
              </a:tr>
              <a:tr h="512064">
                <a:tc>
                  <a:txBody>
                    <a:bodyPr/>
                    <a:lstStyle/>
                    <a:p>
                      <a:pPr indent="0" marL="0">
                        <a:buNone/>
                      </a:pPr>
                      <a:r>
                        <a:rPr lang="en-US" sz="1400" b="1" dirty="0">
                          <a:solidFill>
                            <a:srgbClr val="EAF0F8"/>
                          </a:solidFill>
                          <a:latin typeface="Calibri" pitchFamily="34" charset="0"/>
                          <a:ea typeface="Calibri" pitchFamily="34" charset="-122"/>
                          <a:cs typeface="Calibri" pitchFamily="34" charset="-120"/>
                        </a:rPr>
                        <a:t>Zetaris</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Every query: Lightning SQL over REST across EDGAR XBRL, SIC hierarchy, World Bank, plus a Unified Semantic Layer</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r>
              <a:tr h="512064">
                <a:tc>
                  <a:txBody>
                    <a:bodyPr/>
                    <a:lstStyle/>
                    <a:p>
                      <a:pPr indent="0" marL="0">
                        <a:buNone/>
                      </a:pPr>
                      <a:r>
                        <a:rPr lang="en-US" sz="1400" b="1" dirty="0">
                          <a:solidFill>
                            <a:srgbClr val="EAF0F8"/>
                          </a:solidFill>
                          <a:latin typeface="Calibri" pitchFamily="34" charset="0"/>
                          <a:ea typeface="Calibri" pitchFamily="34" charset="-122"/>
                          <a:cs typeface="Calibri" pitchFamily="34" charset="-120"/>
                        </a:rPr>
                        <a:t>Meterless Nightshift</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Primary AI provider; the model that handled each call is recorded and shown</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r>
              <a:tr h="512064">
                <a:tc>
                  <a:txBody>
                    <a:bodyPr/>
                    <a:lstStyle/>
                    <a:p>
                      <a:pPr indent="0" marL="0">
                        <a:buNone/>
                      </a:pPr>
                      <a:r>
                        <a:rPr lang="en-US" sz="1400" b="1" dirty="0">
                          <a:solidFill>
                            <a:srgbClr val="EAF0F8"/>
                          </a:solidFill>
                          <a:latin typeface="Calibri" pitchFamily="34" charset="0"/>
                          <a:ea typeface="Calibri" pitchFamily="34" charset="-122"/>
                          <a:cs typeface="Calibri" pitchFamily="34" charset="-120"/>
                        </a:rPr>
                        <a:t>Meterless H-MEM</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Remembers verified findings with provenance; recall, audit trail, feedback</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r>
              <a:tr h="512064">
                <a:tc>
                  <a:txBody>
                    <a:bodyPr/>
                    <a:lstStyle/>
                    <a:p>
                      <a:pPr indent="0" marL="0">
                        <a:buNone/>
                      </a:pPr>
                      <a:r>
                        <a:rPr lang="en-US" sz="1400" b="1" dirty="0">
                          <a:solidFill>
                            <a:srgbClr val="EAF0F8"/>
                          </a:solidFill>
                          <a:latin typeface="Calibri" pitchFamily="34" charset="0"/>
                          <a:ea typeface="Calibri" pitchFamily="34" charset="-122"/>
                          <a:cs typeface="Calibri" pitchFamily="34" charset="-120"/>
                        </a:rPr>
                        <a:t>Meterless World Model</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Grounds companies to real CIK / ticker / SIC; refuses unknown names</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r>
              <a:tr h="512064">
                <a:tc>
                  <a:txBody>
                    <a:bodyPr/>
                    <a:lstStyle/>
                    <a:p>
                      <a:pPr indent="0" marL="0">
                        <a:buNone/>
                      </a:pPr>
                      <a:r>
                        <a:rPr lang="en-US" sz="1400" b="1" dirty="0">
                          <a:solidFill>
                            <a:srgbClr val="EAF0F8"/>
                          </a:solidFill>
                          <a:latin typeface="Calibri" pitchFamily="34" charset="0"/>
                          <a:ea typeface="Calibri" pitchFamily="34" charset="-122"/>
                          <a:cs typeface="Calibri" pitchFamily="34" charset="-120"/>
                        </a:rPr>
                        <a:t>Meterless Markovian</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Keeps each reasoning step’s carried context bounded (flat cost per step)</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r>
              <a:tr h="512064">
                <a:tc>
                  <a:txBody>
                    <a:bodyPr/>
                    <a:lstStyle/>
                    <a:p>
                      <a:pPr indent="0" marL="0">
                        <a:buNone/>
                      </a:pPr>
                      <a:r>
                        <a:rPr lang="en-US" sz="1400" b="1" dirty="0">
                          <a:solidFill>
                            <a:srgbClr val="EAF0F8"/>
                          </a:solidFill>
                          <a:latin typeface="Calibri" pitchFamily="34" charset="0"/>
                          <a:ea typeface="Calibri" pitchFamily="34" charset="-122"/>
                          <a:cs typeface="Calibri" pitchFamily="34" charset="-120"/>
                        </a:rPr>
                        <a:t>Meterless Scout Intent</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Intent, risk check, HMAC-signed contract with enforced tools and budgets</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r>
              <a:tr h="512064">
                <a:tc>
                  <a:txBody>
                    <a:bodyPr/>
                    <a:lstStyle/>
                    <a:p>
                      <a:pPr indent="0" marL="0">
                        <a:buNone/>
                      </a:pPr>
                      <a:r>
                        <a:rPr lang="en-US" sz="1400" b="1" dirty="0">
                          <a:solidFill>
                            <a:srgbClr val="EAF0F8"/>
                          </a:solidFill>
                          <a:latin typeface="Calibri" pitchFamily="34" charset="0"/>
                          <a:ea typeface="Calibri" pitchFamily="34" charset="-122"/>
                          <a:cs typeface="Calibri" pitchFamily="34" charset="-120"/>
                        </a:rPr>
                        <a:t>NVIDIA Nemotron</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Planner, SQL investigator and critic, served through Nightshift</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r>
              <a:tr h="512064">
                <a:tc>
                  <a:txBody>
                    <a:bodyPr/>
                    <a:lstStyle/>
                    <a:p>
                      <a:pPr indent="0" marL="0">
                        <a:buNone/>
                      </a:pPr>
                      <a:r>
                        <a:rPr lang="en-US" sz="1400" b="1" dirty="0">
                          <a:solidFill>
                            <a:srgbClr val="EAF0F8"/>
                          </a:solidFill>
                          <a:latin typeface="Calibri" pitchFamily="34" charset="0"/>
                          <a:ea typeface="Calibri" pitchFamily="34" charset="-122"/>
                          <a:cs typeface="Calibri" pitchFamily="34" charset="-120"/>
                        </a:rPr>
                        <a:t>Cursor</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Not used (built with Claude Code)</a:t>
                      </a:r>
                      <a:endParaRPr lang="en-US" sz="1400" dirty="0">
                        <a:latin typeface="Calibri" charset="0"/>
                        <a:ea typeface="Calibri" charset="0"/>
                        <a:cs typeface="Calibri" charset="0"/>
                      </a:endParaRPr>
                    </a:p>
                  </a:txBody>
                  <a:tcPr marL="137160" marR="137160" marT="36576" marB="36576" anchor="ctr">
                    <a:lnL w="12700" cap="flat" cmpd="sng" algn="ctr">
                      <a:solidFill>
                        <a:srgbClr val="2A3A5C"/>
                      </a:solidFill>
                      <a:prstDash val="solid"/>
                      <a:round/>
                      <a:headEnd type="none" w="med" len="med"/>
                      <a:tailEnd type="none" w="med" len="med"/>
                    </a:lnL>
                    <a:lnR w="12700" cap="flat" cmpd="sng" algn="ctr">
                      <a:solidFill>
                        <a:srgbClr val="2A3A5C"/>
                      </a:solidFill>
                      <a:prstDash val="solid"/>
                      <a:round/>
                      <a:headEnd type="none" w="med" len="med"/>
                      <a:tailEnd type="none" w="med" len="med"/>
                    </a:lnR>
                    <a:lnT w="12700" cap="flat" cmpd="sng" algn="ctr">
                      <a:solidFill>
                        <a:srgbClr val="2A3A5C"/>
                      </a:solidFill>
                      <a:prstDash val="solid"/>
                      <a:round/>
                      <a:headEnd type="none" w="med" len="med"/>
                      <a:tailEnd type="none" w="med" len="med"/>
                    </a:lnT>
                    <a:lnB w="12700" cap="flat" cmpd="sng" algn="ctr">
                      <a:solidFill>
                        <a:srgbClr val="2A3A5C"/>
                      </a:solidFill>
                      <a:prstDash val="solid"/>
                      <a:round/>
                      <a:headEnd type="none" w="med" len="med"/>
                      <a:tailEnd type="none" w="med" len="med"/>
                    </a:lnB>
                    <a:solidFill>
                      <a:srgbClr val="152038"/>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800" b="1" dirty="0">
                <a:solidFill>
                  <a:srgbClr val="EAF0F8"/>
                </a:solidFill>
                <a:latin typeface="Cambria" pitchFamily="34" charset="0"/>
                <a:ea typeface="Cambria" pitchFamily="34" charset="-122"/>
                <a:cs typeface="Cambria" pitchFamily="34" charset="-120"/>
              </a:rPr>
              <a:t>What was unique: a verification chain</a:t>
            </a:r>
            <a:endParaRPr lang="en-US" sz="3800" dirty="0"/>
          </a:p>
        </p:txBody>
      </p:sp>
      <p:sp>
        <p:nvSpPr>
          <p:cNvPr id="4" name="Shape 1"/>
          <p:cNvSpPr/>
          <p:nvPr/>
        </p:nvSpPr>
        <p:spPr>
          <a:xfrm>
            <a:off x="548640" y="1645920"/>
            <a:ext cx="3383280" cy="1737360"/>
          </a:xfrm>
          <a:prstGeom prst="roundRect">
            <a:avLst>
              <a:gd name="adj" fmla="val 4211"/>
            </a:avLst>
          </a:prstGeom>
          <a:solidFill>
            <a:srgbClr val="152038"/>
          </a:solidFill>
          <a:ln w="15875">
            <a:solidFill>
              <a:srgbClr val="2A3A5C"/>
            </a:solidFill>
            <a:prstDash val="solid"/>
          </a:ln>
        </p:spPr>
      </p:sp>
      <p:sp>
        <p:nvSpPr>
          <p:cNvPr id="5" name="Shape 2"/>
          <p:cNvSpPr/>
          <p:nvPr/>
        </p:nvSpPr>
        <p:spPr>
          <a:xfrm>
            <a:off x="777240" y="1874520"/>
            <a:ext cx="457200" cy="457200"/>
          </a:xfrm>
          <a:prstGeom prst="ellipse">
            <a:avLst/>
          </a:prstGeom>
          <a:solidFill>
            <a:srgbClr val="4FD1C5"/>
          </a:solidFill>
          <a:ln w="12700">
            <a:solidFill>
              <a:srgbClr val="4FD1C5"/>
            </a:solidFill>
            <a:prstDash val="solid"/>
          </a:ln>
        </p:spPr>
      </p:sp>
      <p:sp>
        <p:nvSpPr>
          <p:cNvPr id="6" name="Text 3"/>
          <p:cNvSpPr txBox="1"/>
          <p:nvPr/>
        </p:nvSpPr>
        <p:spPr>
          <a:xfrm>
            <a:off x="777240" y="1874520"/>
            <a:ext cx="457200" cy="457200"/>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1417320" y="1892808"/>
            <a:ext cx="2377440" cy="411480"/>
          </a:xfrm>
          <a:prstGeom prst="rect">
            <a:avLst/>
          </a:prstGeom>
          <a:noFill/>
          <a:ln/>
        </p:spPr>
        <p:txBody>
          <a:bodyPr wrap="square" lIns="0" tIns="0" rIns="0" bIns="0" rtlCol="0" anchor="t"/>
          <a:lstStyle/>
          <a:p>
            <a:pPr indent="0" marL="0">
              <a:buNone/>
            </a:pPr>
            <a:r>
              <a:rPr lang="en-US" sz="2200" b="1" dirty="0">
                <a:solidFill>
                  <a:srgbClr val="EAF0F8"/>
                </a:solidFill>
                <a:latin typeface="Cambria" pitchFamily="34" charset="0"/>
                <a:ea typeface="Cambria" pitchFamily="34" charset="-122"/>
                <a:cs typeface="Cambria" pitchFamily="34" charset="-120"/>
              </a:rPr>
              <a:t>Scout Intent</a:t>
            </a:r>
            <a:endParaRPr lang="en-US" sz="2200" dirty="0"/>
          </a:p>
        </p:txBody>
      </p:sp>
      <p:sp>
        <p:nvSpPr>
          <p:cNvPr id="8" name="Text 5"/>
          <p:cNvSpPr txBox="1"/>
          <p:nvPr/>
        </p:nvSpPr>
        <p:spPr>
          <a:xfrm>
            <a:off x="777240" y="2560320"/>
            <a:ext cx="2926080" cy="731520"/>
          </a:xfrm>
          <a:prstGeom prst="rect">
            <a:avLst/>
          </a:prstGeom>
          <a:noFill/>
          <a:ln/>
        </p:spPr>
        <p:txBody>
          <a:bodyPr wrap="square" lIns="0" tIns="0" rIns="0" bIns="0" rtlCol="0" anchor="t"/>
          <a:lstStyle/>
          <a:p>
            <a:pPr indent="0" marL="0">
              <a:buNone/>
            </a:pPr>
            <a:r>
              <a:rPr lang="en-US" sz="1600" dirty="0">
                <a:solidFill>
                  <a:srgbClr val="A3B1C9"/>
                </a:solidFill>
                <a:latin typeface="Calibri" pitchFamily="34" charset="0"/>
                <a:ea typeface="Calibri" pitchFamily="34" charset="-122"/>
                <a:cs typeface="Calibri" pitchFamily="34" charset="-120"/>
              </a:rPr>
              <a:t>decides what the agent may do</a:t>
            </a:r>
            <a:endParaRPr lang="en-US" sz="1600" dirty="0"/>
          </a:p>
        </p:txBody>
      </p:sp>
      <p:sp>
        <p:nvSpPr>
          <p:cNvPr id="9" name="Shape 6"/>
          <p:cNvSpPr/>
          <p:nvPr/>
        </p:nvSpPr>
        <p:spPr>
          <a:xfrm>
            <a:off x="3968496" y="2514600"/>
            <a:ext cx="384048" cy="0"/>
          </a:xfrm>
          <a:prstGeom prst="line">
            <a:avLst/>
          </a:prstGeom>
          <a:noFill/>
          <a:ln w="28575">
            <a:solidFill>
              <a:srgbClr val="4FD1C5"/>
            </a:solidFill>
            <a:prstDash val="solid"/>
            <a:tailEnd type="triangle"/>
          </a:ln>
        </p:spPr>
      </p:sp>
      <p:sp>
        <p:nvSpPr>
          <p:cNvPr id="10" name="Shape 7"/>
          <p:cNvSpPr/>
          <p:nvPr/>
        </p:nvSpPr>
        <p:spPr>
          <a:xfrm>
            <a:off x="4389120" y="1645920"/>
            <a:ext cx="3383280" cy="1737360"/>
          </a:xfrm>
          <a:prstGeom prst="roundRect">
            <a:avLst>
              <a:gd name="adj" fmla="val 4211"/>
            </a:avLst>
          </a:prstGeom>
          <a:solidFill>
            <a:srgbClr val="152038"/>
          </a:solidFill>
          <a:ln w="15875">
            <a:solidFill>
              <a:srgbClr val="2A3A5C"/>
            </a:solidFill>
            <a:prstDash val="solid"/>
          </a:ln>
        </p:spPr>
      </p:sp>
      <p:sp>
        <p:nvSpPr>
          <p:cNvPr id="11" name="Shape 8"/>
          <p:cNvSpPr/>
          <p:nvPr/>
        </p:nvSpPr>
        <p:spPr>
          <a:xfrm>
            <a:off x="4617720" y="1874520"/>
            <a:ext cx="457200" cy="457200"/>
          </a:xfrm>
          <a:prstGeom prst="ellipse">
            <a:avLst/>
          </a:prstGeom>
          <a:solidFill>
            <a:srgbClr val="4FD1C5"/>
          </a:solidFill>
          <a:ln w="12700">
            <a:solidFill>
              <a:srgbClr val="4FD1C5"/>
            </a:solidFill>
            <a:prstDash val="solid"/>
          </a:ln>
        </p:spPr>
      </p:sp>
      <p:sp>
        <p:nvSpPr>
          <p:cNvPr id="12" name="Text 9"/>
          <p:cNvSpPr txBox="1"/>
          <p:nvPr/>
        </p:nvSpPr>
        <p:spPr>
          <a:xfrm>
            <a:off x="4617720" y="1874520"/>
            <a:ext cx="457200" cy="457200"/>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5257800" y="1892808"/>
            <a:ext cx="2377440" cy="411480"/>
          </a:xfrm>
          <a:prstGeom prst="rect">
            <a:avLst/>
          </a:prstGeom>
          <a:noFill/>
          <a:ln/>
        </p:spPr>
        <p:txBody>
          <a:bodyPr wrap="square" lIns="0" tIns="0" rIns="0" bIns="0" rtlCol="0" anchor="t"/>
          <a:lstStyle/>
          <a:p>
            <a:pPr indent="0" marL="0">
              <a:buNone/>
            </a:pPr>
            <a:r>
              <a:rPr lang="en-US" sz="2200" b="1" dirty="0">
                <a:solidFill>
                  <a:srgbClr val="EAF0F8"/>
                </a:solidFill>
                <a:latin typeface="Cambria" pitchFamily="34" charset="0"/>
                <a:ea typeface="Cambria" pitchFamily="34" charset="-122"/>
                <a:cs typeface="Cambria" pitchFamily="34" charset="-120"/>
              </a:rPr>
              <a:t>World Model</a:t>
            </a:r>
            <a:endParaRPr lang="en-US" sz="2200" dirty="0"/>
          </a:p>
        </p:txBody>
      </p:sp>
      <p:sp>
        <p:nvSpPr>
          <p:cNvPr id="14" name="Text 11"/>
          <p:cNvSpPr txBox="1"/>
          <p:nvPr/>
        </p:nvSpPr>
        <p:spPr>
          <a:xfrm>
            <a:off x="4617720" y="2560320"/>
            <a:ext cx="2926080" cy="731520"/>
          </a:xfrm>
          <a:prstGeom prst="rect">
            <a:avLst/>
          </a:prstGeom>
          <a:noFill/>
          <a:ln/>
        </p:spPr>
        <p:txBody>
          <a:bodyPr wrap="square" lIns="0" tIns="0" rIns="0" bIns="0" rtlCol="0" anchor="t"/>
          <a:lstStyle/>
          <a:p>
            <a:pPr indent="0" marL="0">
              <a:buNone/>
            </a:pPr>
            <a:r>
              <a:rPr lang="en-US" sz="1600" dirty="0">
                <a:solidFill>
                  <a:srgbClr val="A3B1C9"/>
                </a:solidFill>
                <a:latin typeface="Calibri" pitchFamily="34" charset="0"/>
                <a:ea typeface="Calibri" pitchFamily="34" charset="-122"/>
                <a:cs typeface="Calibri" pitchFamily="34" charset="-120"/>
              </a:rPr>
              <a:t>decides what exists</a:t>
            </a:r>
            <a:endParaRPr lang="en-US" sz="1600" dirty="0"/>
          </a:p>
        </p:txBody>
      </p:sp>
      <p:sp>
        <p:nvSpPr>
          <p:cNvPr id="15" name="Shape 12"/>
          <p:cNvSpPr/>
          <p:nvPr/>
        </p:nvSpPr>
        <p:spPr>
          <a:xfrm>
            <a:off x="7808976" y="2514600"/>
            <a:ext cx="384048" cy="0"/>
          </a:xfrm>
          <a:prstGeom prst="line">
            <a:avLst/>
          </a:prstGeom>
          <a:noFill/>
          <a:ln w="28575">
            <a:solidFill>
              <a:srgbClr val="4FD1C5"/>
            </a:solidFill>
            <a:prstDash val="solid"/>
            <a:tailEnd type="triangle"/>
          </a:ln>
        </p:spPr>
      </p:sp>
      <p:sp>
        <p:nvSpPr>
          <p:cNvPr id="16" name="Shape 13"/>
          <p:cNvSpPr/>
          <p:nvPr/>
        </p:nvSpPr>
        <p:spPr>
          <a:xfrm>
            <a:off x="8229600" y="1645920"/>
            <a:ext cx="3383280" cy="1737360"/>
          </a:xfrm>
          <a:prstGeom prst="roundRect">
            <a:avLst>
              <a:gd name="adj" fmla="val 4211"/>
            </a:avLst>
          </a:prstGeom>
          <a:solidFill>
            <a:srgbClr val="152038"/>
          </a:solidFill>
          <a:ln w="15875">
            <a:solidFill>
              <a:srgbClr val="2A3A5C"/>
            </a:solidFill>
            <a:prstDash val="solid"/>
          </a:ln>
        </p:spPr>
      </p:sp>
      <p:sp>
        <p:nvSpPr>
          <p:cNvPr id="17" name="Shape 14"/>
          <p:cNvSpPr/>
          <p:nvPr/>
        </p:nvSpPr>
        <p:spPr>
          <a:xfrm>
            <a:off x="8458200" y="1874520"/>
            <a:ext cx="457200" cy="457200"/>
          </a:xfrm>
          <a:prstGeom prst="ellipse">
            <a:avLst/>
          </a:prstGeom>
          <a:solidFill>
            <a:srgbClr val="4FD1C5"/>
          </a:solidFill>
          <a:ln w="12700">
            <a:solidFill>
              <a:srgbClr val="4FD1C5"/>
            </a:solidFill>
            <a:prstDash val="solid"/>
          </a:ln>
        </p:spPr>
      </p:sp>
      <p:sp>
        <p:nvSpPr>
          <p:cNvPr id="18" name="Text 15"/>
          <p:cNvSpPr txBox="1"/>
          <p:nvPr/>
        </p:nvSpPr>
        <p:spPr>
          <a:xfrm>
            <a:off x="8458200" y="1874520"/>
            <a:ext cx="457200" cy="457200"/>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3</a:t>
            </a:r>
            <a:endParaRPr lang="en-US" sz="1800" dirty="0"/>
          </a:p>
        </p:txBody>
      </p:sp>
      <p:sp>
        <p:nvSpPr>
          <p:cNvPr id="19" name="Text 16"/>
          <p:cNvSpPr txBox="1"/>
          <p:nvPr/>
        </p:nvSpPr>
        <p:spPr>
          <a:xfrm>
            <a:off x="9098280" y="1892808"/>
            <a:ext cx="2377440" cy="411480"/>
          </a:xfrm>
          <a:prstGeom prst="rect">
            <a:avLst/>
          </a:prstGeom>
          <a:noFill/>
          <a:ln/>
        </p:spPr>
        <p:txBody>
          <a:bodyPr wrap="square" lIns="0" tIns="0" rIns="0" bIns="0" rtlCol="0" anchor="t"/>
          <a:lstStyle/>
          <a:p>
            <a:pPr indent="0" marL="0">
              <a:buNone/>
            </a:pPr>
            <a:r>
              <a:rPr lang="en-US" sz="2200" b="1" dirty="0">
                <a:solidFill>
                  <a:srgbClr val="EAF0F8"/>
                </a:solidFill>
                <a:latin typeface="Cambria" pitchFamily="34" charset="0"/>
                <a:ea typeface="Cambria" pitchFamily="34" charset="-122"/>
                <a:cs typeface="Cambria" pitchFamily="34" charset="-120"/>
              </a:rPr>
              <a:t>Zetaris</a:t>
            </a:r>
            <a:endParaRPr lang="en-US" sz="2200" dirty="0"/>
          </a:p>
        </p:txBody>
      </p:sp>
      <p:sp>
        <p:nvSpPr>
          <p:cNvPr id="20" name="Text 17"/>
          <p:cNvSpPr txBox="1"/>
          <p:nvPr/>
        </p:nvSpPr>
        <p:spPr>
          <a:xfrm>
            <a:off x="8458200" y="2560320"/>
            <a:ext cx="2926080" cy="731520"/>
          </a:xfrm>
          <a:prstGeom prst="rect">
            <a:avLst/>
          </a:prstGeom>
          <a:noFill/>
          <a:ln/>
        </p:spPr>
        <p:txBody>
          <a:bodyPr wrap="square" lIns="0" tIns="0" rIns="0" bIns="0" rtlCol="0" anchor="t"/>
          <a:lstStyle/>
          <a:p>
            <a:pPr indent="0" marL="0">
              <a:buNone/>
            </a:pPr>
            <a:r>
              <a:rPr lang="en-US" sz="1600" dirty="0">
                <a:solidFill>
                  <a:srgbClr val="A3B1C9"/>
                </a:solidFill>
                <a:latin typeface="Calibri" pitchFamily="34" charset="0"/>
                <a:ea typeface="Calibri" pitchFamily="34" charset="-122"/>
                <a:cs typeface="Calibri" pitchFamily="34" charset="-120"/>
              </a:rPr>
              <a:t>the only source of facts</a:t>
            </a:r>
            <a:endParaRPr lang="en-US" sz="1600" dirty="0"/>
          </a:p>
        </p:txBody>
      </p:sp>
      <p:sp>
        <p:nvSpPr>
          <p:cNvPr id="21" name="Shape 18"/>
          <p:cNvSpPr/>
          <p:nvPr/>
        </p:nvSpPr>
        <p:spPr>
          <a:xfrm>
            <a:off x="548640" y="3840480"/>
            <a:ext cx="3383280" cy="1737360"/>
          </a:xfrm>
          <a:prstGeom prst="roundRect">
            <a:avLst>
              <a:gd name="adj" fmla="val 4211"/>
            </a:avLst>
          </a:prstGeom>
          <a:solidFill>
            <a:srgbClr val="152038"/>
          </a:solidFill>
          <a:ln w="15875">
            <a:solidFill>
              <a:srgbClr val="2A3A5C"/>
            </a:solidFill>
            <a:prstDash val="solid"/>
          </a:ln>
        </p:spPr>
      </p:sp>
      <p:sp>
        <p:nvSpPr>
          <p:cNvPr id="22" name="Shape 19"/>
          <p:cNvSpPr/>
          <p:nvPr/>
        </p:nvSpPr>
        <p:spPr>
          <a:xfrm>
            <a:off x="777240" y="4069080"/>
            <a:ext cx="457200" cy="457200"/>
          </a:xfrm>
          <a:prstGeom prst="ellipse">
            <a:avLst/>
          </a:prstGeom>
          <a:solidFill>
            <a:srgbClr val="4FD1C5"/>
          </a:solidFill>
          <a:ln w="12700">
            <a:solidFill>
              <a:srgbClr val="4FD1C5"/>
            </a:solidFill>
            <a:prstDash val="solid"/>
          </a:ln>
        </p:spPr>
      </p:sp>
      <p:sp>
        <p:nvSpPr>
          <p:cNvPr id="23" name="Text 20"/>
          <p:cNvSpPr txBox="1"/>
          <p:nvPr/>
        </p:nvSpPr>
        <p:spPr>
          <a:xfrm>
            <a:off x="777240" y="4069080"/>
            <a:ext cx="457200" cy="457200"/>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4</a:t>
            </a:r>
            <a:endParaRPr lang="en-US" sz="1800" dirty="0"/>
          </a:p>
        </p:txBody>
      </p:sp>
      <p:sp>
        <p:nvSpPr>
          <p:cNvPr id="24" name="Text 21"/>
          <p:cNvSpPr txBox="1"/>
          <p:nvPr/>
        </p:nvSpPr>
        <p:spPr>
          <a:xfrm>
            <a:off x="1417320" y="4087368"/>
            <a:ext cx="2377440" cy="411480"/>
          </a:xfrm>
          <a:prstGeom prst="rect">
            <a:avLst/>
          </a:prstGeom>
          <a:noFill/>
          <a:ln/>
        </p:spPr>
        <p:txBody>
          <a:bodyPr wrap="square" lIns="0" tIns="0" rIns="0" bIns="0" rtlCol="0" anchor="t"/>
          <a:lstStyle/>
          <a:p>
            <a:pPr indent="0" marL="0">
              <a:buNone/>
            </a:pPr>
            <a:r>
              <a:rPr lang="en-US" sz="2200" b="1" dirty="0">
                <a:solidFill>
                  <a:srgbClr val="EAF0F8"/>
                </a:solidFill>
                <a:latin typeface="Cambria" pitchFamily="34" charset="0"/>
                <a:ea typeface="Cambria" pitchFamily="34" charset="-122"/>
                <a:cs typeface="Cambria" pitchFamily="34" charset="-120"/>
              </a:rPr>
              <a:t>Nemotron</a:t>
            </a:r>
            <a:endParaRPr lang="en-US" sz="2200" dirty="0"/>
          </a:p>
        </p:txBody>
      </p:sp>
      <p:sp>
        <p:nvSpPr>
          <p:cNvPr id="25" name="Text 22"/>
          <p:cNvSpPr txBox="1"/>
          <p:nvPr/>
        </p:nvSpPr>
        <p:spPr>
          <a:xfrm>
            <a:off x="777240" y="4754880"/>
            <a:ext cx="2926080" cy="731520"/>
          </a:xfrm>
          <a:prstGeom prst="rect">
            <a:avLst/>
          </a:prstGeom>
          <a:noFill/>
          <a:ln/>
        </p:spPr>
        <p:txBody>
          <a:bodyPr wrap="square" lIns="0" tIns="0" rIns="0" bIns="0" rtlCol="0" anchor="t"/>
          <a:lstStyle/>
          <a:p>
            <a:pPr indent="0" marL="0">
              <a:buNone/>
            </a:pPr>
            <a:r>
              <a:rPr lang="en-US" sz="1600" dirty="0">
                <a:solidFill>
                  <a:srgbClr val="A3B1C9"/>
                </a:solidFill>
                <a:latin typeface="Calibri" pitchFamily="34" charset="0"/>
                <a:ea typeface="Calibri" pitchFamily="34" charset="-122"/>
                <a:cs typeface="Calibri" pitchFamily="34" charset="-120"/>
              </a:rPr>
              <a:t>reasons over the evidence</a:t>
            </a:r>
            <a:endParaRPr lang="en-US" sz="1600" dirty="0"/>
          </a:p>
        </p:txBody>
      </p:sp>
      <p:sp>
        <p:nvSpPr>
          <p:cNvPr id="26" name="Shape 23"/>
          <p:cNvSpPr/>
          <p:nvPr/>
        </p:nvSpPr>
        <p:spPr>
          <a:xfrm>
            <a:off x="3968496" y="4709160"/>
            <a:ext cx="384048" cy="0"/>
          </a:xfrm>
          <a:prstGeom prst="line">
            <a:avLst/>
          </a:prstGeom>
          <a:noFill/>
          <a:ln w="28575">
            <a:solidFill>
              <a:srgbClr val="4FD1C5"/>
            </a:solidFill>
            <a:prstDash val="solid"/>
            <a:tailEnd type="triangle"/>
          </a:ln>
        </p:spPr>
      </p:sp>
      <p:sp>
        <p:nvSpPr>
          <p:cNvPr id="27" name="Shape 24"/>
          <p:cNvSpPr/>
          <p:nvPr/>
        </p:nvSpPr>
        <p:spPr>
          <a:xfrm>
            <a:off x="4389120" y="3840480"/>
            <a:ext cx="3383280" cy="1737360"/>
          </a:xfrm>
          <a:prstGeom prst="roundRect">
            <a:avLst>
              <a:gd name="adj" fmla="val 4211"/>
            </a:avLst>
          </a:prstGeom>
          <a:solidFill>
            <a:srgbClr val="152038"/>
          </a:solidFill>
          <a:ln w="15875">
            <a:solidFill>
              <a:srgbClr val="4FD1C5"/>
            </a:solidFill>
            <a:prstDash val="solid"/>
          </a:ln>
        </p:spPr>
      </p:sp>
      <p:sp>
        <p:nvSpPr>
          <p:cNvPr id="28" name="Shape 25"/>
          <p:cNvSpPr/>
          <p:nvPr/>
        </p:nvSpPr>
        <p:spPr>
          <a:xfrm>
            <a:off x="4617720" y="4069080"/>
            <a:ext cx="457200" cy="457200"/>
          </a:xfrm>
          <a:prstGeom prst="ellipse">
            <a:avLst/>
          </a:prstGeom>
          <a:solidFill>
            <a:srgbClr val="4FD1C5"/>
          </a:solidFill>
          <a:ln w="12700">
            <a:solidFill>
              <a:srgbClr val="4FD1C5"/>
            </a:solidFill>
            <a:prstDash val="solid"/>
          </a:ln>
        </p:spPr>
      </p:sp>
      <p:sp>
        <p:nvSpPr>
          <p:cNvPr id="29" name="Text 26"/>
          <p:cNvSpPr txBox="1"/>
          <p:nvPr/>
        </p:nvSpPr>
        <p:spPr>
          <a:xfrm>
            <a:off x="4617720" y="4069080"/>
            <a:ext cx="457200" cy="457200"/>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5</a:t>
            </a:r>
            <a:endParaRPr lang="en-US" sz="1800" dirty="0"/>
          </a:p>
        </p:txBody>
      </p:sp>
      <p:sp>
        <p:nvSpPr>
          <p:cNvPr id="30" name="Text 27"/>
          <p:cNvSpPr txBox="1"/>
          <p:nvPr/>
        </p:nvSpPr>
        <p:spPr>
          <a:xfrm>
            <a:off x="5257800" y="4087368"/>
            <a:ext cx="2377440" cy="411480"/>
          </a:xfrm>
          <a:prstGeom prst="rect">
            <a:avLst/>
          </a:prstGeom>
          <a:noFill/>
          <a:ln/>
        </p:spPr>
        <p:txBody>
          <a:bodyPr wrap="square" lIns="0" tIns="0" rIns="0" bIns="0" rtlCol="0" anchor="t"/>
          <a:lstStyle/>
          <a:p>
            <a:pPr indent="0" marL="0">
              <a:buNone/>
            </a:pPr>
            <a:r>
              <a:rPr lang="en-US" sz="2200" b="1" dirty="0">
                <a:solidFill>
                  <a:srgbClr val="EAF0F8"/>
                </a:solidFill>
                <a:latin typeface="Cambria" pitchFamily="34" charset="0"/>
                <a:ea typeface="Cambria" pitchFamily="34" charset="-122"/>
                <a:cs typeface="Cambria" pitchFamily="34" charset="-120"/>
              </a:rPr>
              <a:t>Critic</a:t>
            </a:r>
            <a:endParaRPr lang="en-US" sz="2200" dirty="0"/>
          </a:p>
        </p:txBody>
      </p:sp>
      <p:sp>
        <p:nvSpPr>
          <p:cNvPr id="31" name="Text 28"/>
          <p:cNvSpPr txBox="1"/>
          <p:nvPr/>
        </p:nvSpPr>
        <p:spPr>
          <a:xfrm>
            <a:off x="4617720" y="4754880"/>
            <a:ext cx="2926080" cy="731520"/>
          </a:xfrm>
          <a:prstGeom prst="rect">
            <a:avLst/>
          </a:prstGeom>
          <a:noFill/>
          <a:ln/>
        </p:spPr>
        <p:txBody>
          <a:bodyPr wrap="square" lIns="0" tIns="0" rIns="0" bIns="0" rtlCol="0" anchor="t"/>
          <a:lstStyle/>
          <a:p>
            <a:pPr indent="0" marL="0">
              <a:buNone/>
            </a:pPr>
            <a:r>
              <a:rPr lang="en-US" sz="1600" dirty="0">
                <a:solidFill>
                  <a:srgbClr val="A3B1C9"/>
                </a:solidFill>
                <a:latin typeface="Calibri" pitchFamily="34" charset="0"/>
                <a:ea typeface="Calibri" pitchFamily="34" charset="-122"/>
                <a:cs typeface="Calibri" pitchFamily="34" charset="-120"/>
              </a:rPr>
              <a:t>refuses any number not in the evidence rows</a:t>
            </a:r>
            <a:endParaRPr lang="en-US" sz="1600" dirty="0"/>
          </a:p>
        </p:txBody>
      </p:sp>
      <p:sp>
        <p:nvSpPr>
          <p:cNvPr id="32" name="Shape 29"/>
          <p:cNvSpPr/>
          <p:nvPr/>
        </p:nvSpPr>
        <p:spPr>
          <a:xfrm>
            <a:off x="7808976" y="4709160"/>
            <a:ext cx="384048" cy="0"/>
          </a:xfrm>
          <a:prstGeom prst="line">
            <a:avLst/>
          </a:prstGeom>
          <a:noFill/>
          <a:ln w="28575">
            <a:solidFill>
              <a:srgbClr val="4FD1C5"/>
            </a:solidFill>
            <a:prstDash val="solid"/>
            <a:tailEnd type="triangle"/>
          </a:ln>
        </p:spPr>
      </p:sp>
      <p:sp>
        <p:nvSpPr>
          <p:cNvPr id="33" name="Shape 30"/>
          <p:cNvSpPr/>
          <p:nvPr/>
        </p:nvSpPr>
        <p:spPr>
          <a:xfrm>
            <a:off x="8229600" y="3840480"/>
            <a:ext cx="3383280" cy="1737360"/>
          </a:xfrm>
          <a:prstGeom prst="roundRect">
            <a:avLst>
              <a:gd name="adj" fmla="val 4211"/>
            </a:avLst>
          </a:prstGeom>
          <a:solidFill>
            <a:srgbClr val="152038"/>
          </a:solidFill>
          <a:ln w="15875">
            <a:solidFill>
              <a:srgbClr val="2A3A5C"/>
            </a:solidFill>
            <a:prstDash val="solid"/>
          </a:ln>
        </p:spPr>
      </p:sp>
      <p:sp>
        <p:nvSpPr>
          <p:cNvPr id="34" name="Shape 31"/>
          <p:cNvSpPr/>
          <p:nvPr/>
        </p:nvSpPr>
        <p:spPr>
          <a:xfrm>
            <a:off x="8458200" y="4069080"/>
            <a:ext cx="457200" cy="457200"/>
          </a:xfrm>
          <a:prstGeom prst="ellipse">
            <a:avLst/>
          </a:prstGeom>
          <a:solidFill>
            <a:srgbClr val="4FD1C5"/>
          </a:solidFill>
          <a:ln w="12700">
            <a:solidFill>
              <a:srgbClr val="4FD1C5"/>
            </a:solidFill>
            <a:prstDash val="solid"/>
          </a:ln>
        </p:spPr>
      </p:sp>
      <p:sp>
        <p:nvSpPr>
          <p:cNvPr id="35" name="Text 32"/>
          <p:cNvSpPr txBox="1"/>
          <p:nvPr/>
        </p:nvSpPr>
        <p:spPr>
          <a:xfrm>
            <a:off x="8458200" y="4069080"/>
            <a:ext cx="457200" cy="457200"/>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6</a:t>
            </a:r>
            <a:endParaRPr lang="en-US" sz="1800" dirty="0"/>
          </a:p>
        </p:txBody>
      </p:sp>
      <p:sp>
        <p:nvSpPr>
          <p:cNvPr id="36" name="Text 33"/>
          <p:cNvSpPr txBox="1"/>
          <p:nvPr/>
        </p:nvSpPr>
        <p:spPr>
          <a:xfrm>
            <a:off x="9098280" y="4087368"/>
            <a:ext cx="2377440" cy="411480"/>
          </a:xfrm>
          <a:prstGeom prst="rect">
            <a:avLst/>
          </a:prstGeom>
          <a:noFill/>
          <a:ln/>
        </p:spPr>
        <p:txBody>
          <a:bodyPr wrap="square" lIns="0" tIns="0" rIns="0" bIns="0" rtlCol="0" anchor="t"/>
          <a:lstStyle/>
          <a:p>
            <a:pPr indent="0" marL="0">
              <a:buNone/>
            </a:pPr>
            <a:r>
              <a:rPr lang="en-US" sz="2200" b="1" dirty="0">
                <a:solidFill>
                  <a:srgbClr val="EAF0F8"/>
                </a:solidFill>
                <a:latin typeface="Cambria" pitchFamily="34" charset="0"/>
                <a:ea typeface="Cambria" pitchFamily="34" charset="-122"/>
                <a:cs typeface="Cambria" pitchFamily="34" charset="-120"/>
              </a:rPr>
              <a:t>H-MEM</a:t>
            </a:r>
            <a:endParaRPr lang="en-US" sz="2200" dirty="0"/>
          </a:p>
        </p:txBody>
      </p:sp>
      <p:sp>
        <p:nvSpPr>
          <p:cNvPr id="37" name="Text 34"/>
          <p:cNvSpPr txBox="1"/>
          <p:nvPr/>
        </p:nvSpPr>
        <p:spPr>
          <a:xfrm>
            <a:off x="8458200" y="4754880"/>
            <a:ext cx="2926080" cy="731520"/>
          </a:xfrm>
          <a:prstGeom prst="rect">
            <a:avLst/>
          </a:prstGeom>
          <a:noFill/>
          <a:ln/>
        </p:spPr>
        <p:txBody>
          <a:bodyPr wrap="square" lIns="0" tIns="0" rIns="0" bIns="0" rtlCol="0" anchor="t"/>
          <a:lstStyle/>
          <a:p>
            <a:pPr indent="0" marL="0">
              <a:buNone/>
            </a:pPr>
            <a:r>
              <a:rPr lang="en-US" sz="1600" dirty="0">
                <a:solidFill>
                  <a:srgbClr val="A3B1C9"/>
                </a:solidFill>
                <a:latin typeface="Calibri" pitchFamily="34" charset="0"/>
                <a:ea typeface="Calibri" pitchFamily="34" charset="-122"/>
                <a:cs typeface="Calibri" pitchFamily="34" charset="-120"/>
              </a:rPr>
              <a:t>remembers only what survived, with provenance</a:t>
            </a:r>
            <a:endParaRPr lang="en-US" sz="1600" dirty="0"/>
          </a:p>
        </p:txBody>
      </p:sp>
      <p:sp>
        <p:nvSpPr>
          <p:cNvPr id="38" name="Text 35"/>
          <p:cNvSpPr txBox="1"/>
          <p:nvPr/>
        </p:nvSpPr>
        <p:spPr>
          <a:xfrm>
            <a:off x="548640" y="5943600"/>
            <a:ext cx="10972800" cy="365760"/>
          </a:xfrm>
          <a:prstGeom prst="rect">
            <a:avLst/>
          </a:prstGeom>
          <a:noFill/>
          <a:ln/>
        </p:spPr>
        <p:txBody>
          <a:bodyPr wrap="square" lIns="0" tIns="0" rIns="0" bIns="0" rtlCol="0" anchor="t"/>
          <a:lstStyle/>
          <a:p>
            <a:pPr indent="0" marL="0">
              <a:buNone/>
            </a:pPr>
            <a:r>
              <a:rPr lang="en-US" sz="1800" dirty="0">
                <a:solidFill>
                  <a:srgbClr val="4FD1C5"/>
                </a:solidFill>
                <a:latin typeface="Calibri" pitchFamily="34" charset="0"/>
                <a:ea typeface="Calibri" pitchFamily="34" charset="-122"/>
                <a:cs typeface="Calibri" pitchFamily="34" charset="-120"/>
              </a:rPr>
              <a:t>Each step constrains the next; nothing reaches memory unchecked.</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800" b="1" dirty="0">
                <a:solidFill>
                  <a:srgbClr val="EAF0F8"/>
                </a:solidFill>
                <a:latin typeface="Cambria" pitchFamily="34" charset="0"/>
                <a:ea typeface="Cambria" pitchFamily="34" charset="-122"/>
                <a:cs typeface="Cambria" pitchFamily="34" charset="-120"/>
              </a:rPr>
              <a:t>Product visuals: the investigation</a:t>
            </a:r>
            <a:endParaRPr lang="en-US" sz="3800" dirty="0"/>
          </a:p>
        </p:txBody>
      </p:sp>
      <p:pic>
        <p:nvPicPr>
          <p:cNvPr id="4" name="Image 0" descr="B:/open-agent-hackathon/causa/docs/screens/dark-2-mid.png">    </p:cNvPr>
          <p:cNvPicPr>
            <a:picLocks noChangeAspect="1"/>
          </p:cNvPicPr>
          <p:nvPr/>
        </p:nvPicPr>
        <p:blipFill>
          <a:blip r:embed="rId1"/>
          <a:stretch>
            <a:fillRect/>
          </a:stretch>
        </p:blipFill>
        <p:spPr>
          <a:xfrm>
            <a:off x="548640" y="1828800"/>
            <a:ext cx="5440680" cy="3400425"/>
          </a:xfrm>
          <a:prstGeom prst="rect">
            <a:avLst/>
          </a:prstGeom>
        </p:spPr>
      </p:pic>
      <p:sp>
        <p:nvSpPr>
          <p:cNvPr id="5" name="Shape 1"/>
          <p:cNvSpPr/>
          <p:nvPr/>
        </p:nvSpPr>
        <p:spPr>
          <a:xfrm>
            <a:off x="548640" y="1828800"/>
            <a:ext cx="5440680" cy="3400425"/>
          </a:xfrm>
          <a:prstGeom prst="rect">
            <a:avLst/>
          </a:prstGeom>
          <a:ln w="12700">
            <a:solidFill>
              <a:srgbClr val="2A3A5C"/>
            </a:solidFill>
            <a:prstDash val="solid"/>
          </a:ln>
        </p:spPr>
      </p:sp>
      <p:sp>
        <p:nvSpPr>
          <p:cNvPr id="6" name="Text 2"/>
          <p:cNvSpPr txBox="1"/>
          <p:nvPr/>
        </p:nvSpPr>
        <p:spPr>
          <a:xfrm>
            <a:off x="548640" y="5338953"/>
            <a:ext cx="5440680" cy="32004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Contract, entities, hypothesis board</a:t>
            </a:r>
            <a:endParaRPr lang="en-US" sz="1600" dirty="0"/>
          </a:p>
        </p:txBody>
      </p:sp>
      <p:sp>
        <p:nvSpPr>
          <p:cNvPr id="7" name="Text 3"/>
          <p:cNvSpPr txBox="1"/>
          <p:nvPr/>
        </p:nvSpPr>
        <p:spPr>
          <a:xfrm>
            <a:off x="548640" y="5686425"/>
            <a:ext cx="5440680" cy="274320"/>
          </a:xfrm>
          <a:prstGeom prst="rect">
            <a:avLst/>
          </a:prstGeom>
          <a:noFill/>
          <a:ln/>
        </p:spPr>
        <p:txBody>
          <a:bodyPr wrap="square" lIns="0" tIns="0" rIns="0" bIns="0" rtlCol="0" anchor="t"/>
          <a:lstStyle/>
          <a:p>
            <a:pPr indent="0" marL="0">
              <a:buNone/>
            </a:pPr>
            <a:r>
              <a:rPr lang="en-US" sz="1200" i="1" dirty="0">
                <a:solidFill>
                  <a:srgbClr val="A3B1C9"/>
                </a:solidFill>
                <a:latin typeface="Calibri" pitchFamily="34" charset="0"/>
                <a:ea typeface="Calibri" pitchFamily="34" charset="-122"/>
                <a:cs typeface="Calibri" pitchFamily="34" charset="-120"/>
              </a:rPr>
              <a:t>UI preview</a:t>
            </a:r>
            <a:endParaRPr lang="en-US" sz="1200" dirty="0"/>
          </a:p>
        </p:txBody>
      </p:sp>
      <p:pic>
        <p:nvPicPr>
          <p:cNvPr id="8" name="Image 1" descr="C:/Users/shaya/AppData/Local/Temp/claude/C--Windows-System32/60fc6f7b-30ac-4847-9871-060fc09cb269/scratchpad/b/final-crop.png">    </p:cNvPr>
          <p:cNvPicPr>
            <a:picLocks noChangeAspect="1"/>
          </p:cNvPicPr>
          <p:nvPr/>
        </p:nvPicPr>
        <p:blipFill>
          <a:blip r:embed="rId2"/>
          <a:stretch>
            <a:fillRect/>
          </a:stretch>
        </p:blipFill>
        <p:spPr>
          <a:xfrm>
            <a:off x="6217920" y="1828800"/>
            <a:ext cx="5440680" cy="3400425"/>
          </a:xfrm>
          <a:prstGeom prst="rect">
            <a:avLst/>
          </a:prstGeom>
        </p:spPr>
      </p:pic>
      <p:sp>
        <p:nvSpPr>
          <p:cNvPr id="9" name="Shape 4"/>
          <p:cNvSpPr/>
          <p:nvPr/>
        </p:nvSpPr>
        <p:spPr>
          <a:xfrm>
            <a:off x="6217920" y="1828800"/>
            <a:ext cx="5440680" cy="3400425"/>
          </a:xfrm>
          <a:prstGeom prst="rect">
            <a:avLst/>
          </a:prstGeom>
          <a:ln w="12700">
            <a:solidFill>
              <a:srgbClr val="2A3A5C"/>
            </a:solidFill>
            <a:prstDash val="solid"/>
          </a:ln>
        </p:spPr>
      </p:sp>
      <p:sp>
        <p:nvSpPr>
          <p:cNvPr id="10" name="Text 5"/>
          <p:cNvSpPr txBox="1"/>
          <p:nvPr/>
        </p:nvSpPr>
        <p:spPr>
          <a:xfrm>
            <a:off x="6217920" y="5338953"/>
            <a:ext cx="5440680" cy="32004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Ranked answer, checked by a critic</a:t>
            </a:r>
            <a:endParaRPr lang="en-US" sz="1600" dirty="0"/>
          </a:p>
        </p:txBody>
      </p:sp>
      <p:sp>
        <p:nvSpPr>
          <p:cNvPr id="11" name="Text 6"/>
          <p:cNvSpPr txBox="1"/>
          <p:nvPr/>
        </p:nvSpPr>
        <p:spPr>
          <a:xfrm>
            <a:off x="6217920" y="5686425"/>
            <a:ext cx="5440680" cy="274320"/>
          </a:xfrm>
          <a:prstGeom prst="rect">
            <a:avLst/>
          </a:prstGeom>
          <a:noFill/>
          <a:ln/>
        </p:spPr>
        <p:txBody>
          <a:bodyPr wrap="square" lIns="0" tIns="0" rIns="0" bIns="0" rtlCol="0" anchor="t"/>
          <a:lstStyle/>
          <a:p>
            <a:pPr indent="0" marL="0">
              <a:buNone/>
            </a:pPr>
            <a:r>
              <a:rPr lang="en-US" sz="1200" i="1" dirty="0">
                <a:solidFill>
                  <a:srgbClr val="A3B1C9"/>
                </a:solidFill>
                <a:latin typeface="Calibri" pitchFamily="34" charset="0"/>
                <a:ea typeface="Calibri" pitchFamily="34" charset="-122"/>
                <a:cs typeface="Calibri" pitchFamily="34" charset="-120"/>
              </a:rPr>
              <a:t>UI preview</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800" b="1" dirty="0">
                <a:solidFill>
                  <a:srgbClr val="EAF0F8"/>
                </a:solidFill>
                <a:latin typeface="Cambria" pitchFamily="34" charset="0"/>
                <a:ea typeface="Cambria" pitchFamily="34" charset="-122"/>
                <a:cs typeface="Cambria" pitchFamily="34" charset="-120"/>
              </a:rPr>
              <a:t>Product visuals: audit and entity trail</a:t>
            </a:r>
            <a:endParaRPr lang="en-US" sz="3800" dirty="0"/>
          </a:p>
        </p:txBody>
      </p:sp>
      <p:pic>
        <p:nvPicPr>
          <p:cNvPr id="4" name="Image 0" descr="B:/open-agent-hackathon/causa/docs/screens/dark-4-audit.png">    </p:cNvPr>
          <p:cNvPicPr>
            <a:picLocks noChangeAspect="1"/>
          </p:cNvPicPr>
          <p:nvPr/>
        </p:nvPicPr>
        <p:blipFill>
          <a:blip r:embed="rId1"/>
          <a:stretch>
            <a:fillRect/>
          </a:stretch>
        </p:blipFill>
        <p:spPr>
          <a:xfrm>
            <a:off x="548640" y="1828800"/>
            <a:ext cx="5440680" cy="3400425"/>
          </a:xfrm>
          <a:prstGeom prst="rect">
            <a:avLst/>
          </a:prstGeom>
        </p:spPr>
      </p:pic>
      <p:sp>
        <p:nvSpPr>
          <p:cNvPr id="5" name="Shape 1"/>
          <p:cNvSpPr/>
          <p:nvPr/>
        </p:nvSpPr>
        <p:spPr>
          <a:xfrm>
            <a:off x="548640" y="1828800"/>
            <a:ext cx="5440680" cy="3400425"/>
          </a:xfrm>
          <a:prstGeom prst="rect">
            <a:avLst/>
          </a:prstGeom>
          <a:ln w="12700">
            <a:solidFill>
              <a:srgbClr val="2A3A5C"/>
            </a:solidFill>
            <a:prstDash val="solid"/>
          </a:ln>
        </p:spPr>
      </p:sp>
      <p:sp>
        <p:nvSpPr>
          <p:cNvPr id="6" name="Text 2"/>
          <p:cNvSpPr txBox="1"/>
          <p:nvPr/>
        </p:nvSpPr>
        <p:spPr>
          <a:xfrm>
            <a:off x="548640" y="5338953"/>
            <a:ext cx="5440680" cy="32004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H-MEM audit trail</a:t>
            </a:r>
            <a:endParaRPr lang="en-US" sz="1600" dirty="0"/>
          </a:p>
        </p:txBody>
      </p:sp>
      <p:sp>
        <p:nvSpPr>
          <p:cNvPr id="7" name="Text 3"/>
          <p:cNvSpPr txBox="1"/>
          <p:nvPr/>
        </p:nvSpPr>
        <p:spPr>
          <a:xfrm>
            <a:off x="548640" y="5686425"/>
            <a:ext cx="5440680" cy="274320"/>
          </a:xfrm>
          <a:prstGeom prst="rect">
            <a:avLst/>
          </a:prstGeom>
          <a:noFill/>
          <a:ln/>
        </p:spPr>
        <p:txBody>
          <a:bodyPr wrap="square" lIns="0" tIns="0" rIns="0" bIns="0" rtlCol="0" anchor="t"/>
          <a:lstStyle/>
          <a:p>
            <a:pPr indent="0" marL="0">
              <a:buNone/>
            </a:pPr>
            <a:r>
              <a:rPr lang="en-US" sz="1200" i="1" dirty="0">
                <a:solidFill>
                  <a:srgbClr val="A3B1C9"/>
                </a:solidFill>
                <a:latin typeface="Calibri" pitchFamily="34" charset="0"/>
                <a:ea typeface="Calibri" pitchFamily="34" charset="-122"/>
                <a:cs typeface="Calibri" pitchFamily="34" charset="-120"/>
              </a:rPr>
              <a:t>UI preview</a:t>
            </a:r>
            <a:endParaRPr lang="en-US" sz="1200" dirty="0"/>
          </a:p>
        </p:txBody>
      </p:sp>
      <p:pic>
        <p:nvPicPr>
          <p:cNvPr id="8" name="Image 1" descr="B:/open-agent-hackathon/causa/docs/screens/dark-5-entity.png">    </p:cNvPr>
          <p:cNvPicPr>
            <a:picLocks noChangeAspect="1"/>
          </p:cNvPicPr>
          <p:nvPr/>
        </p:nvPicPr>
        <p:blipFill>
          <a:blip r:embed="rId2"/>
          <a:stretch>
            <a:fillRect/>
          </a:stretch>
        </p:blipFill>
        <p:spPr>
          <a:xfrm>
            <a:off x="6217920" y="1828800"/>
            <a:ext cx="5440680" cy="3400425"/>
          </a:xfrm>
          <a:prstGeom prst="rect">
            <a:avLst/>
          </a:prstGeom>
        </p:spPr>
      </p:pic>
      <p:sp>
        <p:nvSpPr>
          <p:cNvPr id="9" name="Shape 4"/>
          <p:cNvSpPr/>
          <p:nvPr/>
        </p:nvSpPr>
        <p:spPr>
          <a:xfrm>
            <a:off x="6217920" y="1828800"/>
            <a:ext cx="5440680" cy="3400425"/>
          </a:xfrm>
          <a:prstGeom prst="rect">
            <a:avLst/>
          </a:prstGeom>
          <a:ln w="12700">
            <a:solidFill>
              <a:srgbClr val="2A3A5C"/>
            </a:solidFill>
            <a:prstDash val="solid"/>
          </a:ln>
        </p:spPr>
      </p:sp>
      <p:sp>
        <p:nvSpPr>
          <p:cNvPr id="10" name="Text 5"/>
          <p:cNvSpPr txBox="1"/>
          <p:nvPr/>
        </p:nvSpPr>
        <p:spPr>
          <a:xfrm>
            <a:off x="6217920" y="5338953"/>
            <a:ext cx="5440680" cy="32004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World Model entity trail</a:t>
            </a:r>
            <a:endParaRPr lang="en-US" sz="1600" dirty="0"/>
          </a:p>
        </p:txBody>
      </p:sp>
      <p:sp>
        <p:nvSpPr>
          <p:cNvPr id="11" name="Text 6"/>
          <p:cNvSpPr txBox="1"/>
          <p:nvPr/>
        </p:nvSpPr>
        <p:spPr>
          <a:xfrm>
            <a:off x="6217920" y="5686425"/>
            <a:ext cx="5440680" cy="274320"/>
          </a:xfrm>
          <a:prstGeom prst="rect">
            <a:avLst/>
          </a:prstGeom>
          <a:noFill/>
          <a:ln/>
        </p:spPr>
        <p:txBody>
          <a:bodyPr wrap="square" lIns="0" tIns="0" rIns="0" bIns="0" rtlCol="0" anchor="t"/>
          <a:lstStyle/>
          <a:p>
            <a:pPr indent="0" marL="0">
              <a:buNone/>
            </a:pPr>
            <a:r>
              <a:rPr lang="en-US" sz="1200" i="1" dirty="0">
                <a:solidFill>
                  <a:srgbClr val="A3B1C9"/>
                </a:solidFill>
                <a:latin typeface="Calibri" pitchFamily="34" charset="0"/>
                <a:ea typeface="Calibri" pitchFamily="34" charset="-122"/>
                <a:cs typeface="Calibri" pitchFamily="34" charset="-120"/>
              </a:rPr>
              <a:t>UI preview</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800" b="1" dirty="0">
                <a:solidFill>
                  <a:srgbClr val="EAF0F8"/>
                </a:solidFill>
                <a:latin typeface="Cambria" pitchFamily="34" charset="0"/>
                <a:ea typeface="Cambria" pitchFamily="34" charset="-122"/>
                <a:cs typeface="Cambria" pitchFamily="34" charset="-120"/>
              </a:rPr>
              <a:t>Future enhancements</a:t>
            </a:r>
            <a:endParaRPr lang="en-US" sz="3800" dirty="0"/>
          </a:p>
        </p:txBody>
      </p:sp>
      <p:sp>
        <p:nvSpPr>
          <p:cNvPr id="4" name="Shape 1"/>
          <p:cNvSpPr/>
          <p:nvPr/>
        </p:nvSpPr>
        <p:spPr>
          <a:xfrm>
            <a:off x="548640" y="1554480"/>
            <a:ext cx="5458968" cy="1280160"/>
          </a:xfrm>
          <a:prstGeom prst="roundRect">
            <a:avLst>
              <a:gd name="adj" fmla="val 5714"/>
            </a:avLst>
          </a:prstGeom>
          <a:solidFill>
            <a:srgbClr val="152038"/>
          </a:solidFill>
          <a:ln w="12700">
            <a:solidFill>
              <a:srgbClr val="2A3A5C"/>
            </a:solidFill>
            <a:prstDash val="solid"/>
          </a:ln>
        </p:spPr>
      </p:sp>
      <p:sp>
        <p:nvSpPr>
          <p:cNvPr id="5" name="Text 2"/>
          <p:cNvSpPr txBox="1"/>
          <p:nvPr/>
        </p:nvSpPr>
        <p:spPr>
          <a:xfrm>
            <a:off x="777240" y="1737360"/>
            <a:ext cx="3904488" cy="365760"/>
          </a:xfrm>
          <a:prstGeom prst="rect">
            <a:avLst/>
          </a:prstGeom>
          <a:noFill/>
          <a:ln/>
        </p:spPr>
        <p:txBody>
          <a:bodyPr wrap="square" lIns="0" tIns="0" rIns="0" bIns="0" rtlCol="0" anchor="t"/>
          <a:lstStyle/>
          <a:p>
            <a:pPr indent="0" marL="0">
              <a:buNone/>
            </a:pPr>
            <a:r>
              <a:rPr lang="en-US" sz="2000" b="1" dirty="0">
                <a:solidFill>
                  <a:srgbClr val="4FD1C5"/>
                </a:solidFill>
                <a:latin typeface="Cambria" pitchFamily="34" charset="0"/>
                <a:ea typeface="Cambria" pitchFamily="34" charset="-122"/>
                <a:cs typeface="Cambria" pitchFamily="34" charset="-120"/>
              </a:rPr>
              <a:t>More sources</a:t>
            </a:r>
            <a:endParaRPr lang="en-US" sz="2000" dirty="0"/>
          </a:p>
        </p:txBody>
      </p:sp>
      <p:sp>
        <p:nvSpPr>
          <p:cNvPr id="6" name="Text 3"/>
          <p:cNvSpPr txBox="1"/>
          <p:nvPr/>
        </p:nvSpPr>
        <p:spPr>
          <a:xfrm>
            <a:off x="4910328" y="1773936"/>
            <a:ext cx="914400" cy="274320"/>
          </a:xfrm>
          <a:prstGeom prst="rect">
            <a:avLst/>
          </a:prstGeom>
          <a:noFill/>
          <a:ln/>
        </p:spPr>
        <p:txBody>
          <a:bodyPr wrap="square" lIns="0" tIns="0" rIns="0" bIns="0" rtlCol="0" anchor="t"/>
          <a:lstStyle/>
          <a:p>
            <a:pPr algn="r" indent="0" marL="0">
              <a:buNone/>
            </a:pPr>
            <a:r>
              <a:rPr lang="en-US" sz="1200" b="1" dirty="0">
                <a:solidFill>
                  <a:srgbClr val="A3B1C9"/>
                </a:solidFill>
                <a:latin typeface="Calibri" pitchFamily="34" charset="0"/>
                <a:ea typeface="Calibri" pitchFamily="34" charset="-122"/>
                <a:cs typeface="Calibri" pitchFamily="34" charset="-120"/>
              </a:rPr>
              <a:t>FUTURE</a:t>
            </a:r>
            <a:endParaRPr lang="en-US" sz="1200" dirty="0"/>
          </a:p>
        </p:txBody>
      </p:sp>
      <p:sp>
        <p:nvSpPr>
          <p:cNvPr id="7" name="Text 4"/>
          <p:cNvSpPr txBox="1"/>
          <p:nvPr/>
        </p:nvSpPr>
        <p:spPr>
          <a:xfrm>
            <a:off x="777240" y="2240280"/>
            <a:ext cx="5001768" cy="502920"/>
          </a:xfrm>
          <a:prstGeom prst="rect">
            <a:avLst/>
          </a:prstGeom>
          <a:noFill/>
          <a:ln/>
        </p:spPr>
        <p:txBody>
          <a:bodyPr wrap="square" lIns="0" tIns="0" rIns="0" bIns="0" rtlCol="0" anchor="t"/>
          <a:lstStyle/>
          <a:p>
            <a:pPr indent="0" marL="0">
              <a:buNone/>
            </a:pPr>
            <a:r>
              <a:rPr lang="en-US" sz="1600" dirty="0">
                <a:solidFill>
                  <a:srgbClr val="EAF0F8"/>
                </a:solidFill>
                <a:latin typeface="Calibri" pitchFamily="34" charset="0"/>
                <a:ea typeface="Calibri" pitchFamily="34" charset="-122"/>
                <a:cs typeface="Calibri" pitchFamily="34" charset="-120"/>
              </a:rPr>
              <a:t>Earnings-call transcripts and internal ERP, via Zetaris connectors</a:t>
            </a:r>
            <a:endParaRPr lang="en-US" sz="1600" dirty="0"/>
          </a:p>
        </p:txBody>
      </p:sp>
      <p:sp>
        <p:nvSpPr>
          <p:cNvPr id="8" name="Shape 5"/>
          <p:cNvSpPr/>
          <p:nvPr/>
        </p:nvSpPr>
        <p:spPr>
          <a:xfrm>
            <a:off x="6245352" y="1554480"/>
            <a:ext cx="5458968" cy="1280160"/>
          </a:xfrm>
          <a:prstGeom prst="roundRect">
            <a:avLst>
              <a:gd name="adj" fmla="val 5714"/>
            </a:avLst>
          </a:prstGeom>
          <a:solidFill>
            <a:srgbClr val="152038"/>
          </a:solidFill>
          <a:ln w="12700">
            <a:solidFill>
              <a:srgbClr val="2A3A5C"/>
            </a:solidFill>
            <a:prstDash val="solid"/>
          </a:ln>
        </p:spPr>
      </p:sp>
      <p:sp>
        <p:nvSpPr>
          <p:cNvPr id="9" name="Text 6"/>
          <p:cNvSpPr txBox="1"/>
          <p:nvPr/>
        </p:nvSpPr>
        <p:spPr>
          <a:xfrm>
            <a:off x="6473952" y="1737360"/>
            <a:ext cx="3904488" cy="365760"/>
          </a:xfrm>
          <a:prstGeom prst="rect">
            <a:avLst/>
          </a:prstGeom>
          <a:noFill/>
          <a:ln/>
        </p:spPr>
        <p:txBody>
          <a:bodyPr wrap="square" lIns="0" tIns="0" rIns="0" bIns="0" rtlCol="0" anchor="t"/>
          <a:lstStyle/>
          <a:p>
            <a:pPr indent="0" marL="0">
              <a:buNone/>
            </a:pPr>
            <a:r>
              <a:rPr lang="en-US" sz="2000" b="1" dirty="0">
                <a:solidFill>
                  <a:srgbClr val="4FD1C5"/>
                </a:solidFill>
                <a:latin typeface="Cambria" pitchFamily="34" charset="0"/>
                <a:ea typeface="Cambria" pitchFamily="34" charset="-122"/>
                <a:cs typeface="Cambria" pitchFamily="34" charset="-120"/>
              </a:rPr>
              <a:t>Overnight investigations</a:t>
            </a:r>
            <a:endParaRPr lang="en-US" sz="2000" dirty="0"/>
          </a:p>
        </p:txBody>
      </p:sp>
      <p:sp>
        <p:nvSpPr>
          <p:cNvPr id="10" name="Text 7"/>
          <p:cNvSpPr txBox="1"/>
          <p:nvPr/>
        </p:nvSpPr>
        <p:spPr>
          <a:xfrm>
            <a:off x="10607040" y="1773936"/>
            <a:ext cx="914400" cy="274320"/>
          </a:xfrm>
          <a:prstGeom prst="rect">
            <a:avLst/>
          </a:prstGeom>
          <a:noFill/>
          <a:ln/>
        </p:spPr>
        <p:txBody>
          <a:bodyPr wrap="square" lIns="0" tIns="0" rIns="0" bIns="0" rtlCol="0" anchor="t"/>
          <a:lstStyle/>
          <a:p>
            <a:pPr algn="r" indent="0" marL="0">
              <a:buNone/>
            </a:pPr>
            <a:r>
              <a:rPr lang="en-US" sz="1200" b="1" dirty="0">
                <a:solidFill>
                  <a:srgbClr val="A3B1C9"/>
                </a:solidFill>
                <a:latin typeface="Calibri" pitchFamily="34" charset="0"/>
                <a:ea typeface="Calibri" pitchFamily="34" charset="-122"/>
                <a:cs typeface="Calibri" pitchFamily="34" charset="-120"/>
              </a:rPr>
              <a:t>FUTURE</a:t>
            </a:r>
            <a:endParaRPr lang="en-US" sz="1200" dirty="0"/>
          </a:p>
        </p:txBody>
      </p:sp>
      <p:sp>
        <p:nvSpPr>
          <p:cNvPr id="11" name="Text 8"/>
          <p:cNvSpPr txBox="1"/>
          <p:nvPr/>
        </p:nvSpPr>
        <p:spPr>
          <a:xfrm>
            <a:off x="6473952" y="2240280"/>
            <a:ext cx="5001768" cy="502920"/>
          </a:xfrm>
          <a:prstGeom prst="rect">
            <a:avLst/>
          </a:prstGeom>
          <a:noFill/>
          <a:ln/>
        </p:spPr>
        <p:txBody>
          <a:bodyPr wrap="square" lIns="0" tIns="0" rIns="0" bIns="0" rtlCol="0" anchor="t"/>
          <a:lstStyle/>
          <a:p>
            <a:pPr indent="0" marL="0">
              <a:buNone/>
            </a:pPr>
            <a:r>
              <a:rPr lang="en-US" sz="1600" dirty="0">
                <a:solidFill>
                  <a:srgbClr val="EAF0F8"/>
                </a:solidFill>
                <a:latin typeface="Calibri" pitchFamily="34" charset="0"/>
                <a:ea typeface="Calibri" pitchFamily="34" charset="-122"/>
                <a:cs typeface="Calibri" pitchFamily="34" charset="-120"/>
              </a:rPr>
              <a:t>Scheduled Nightshift runs that pre-answer recurring questions</a:t>
            </a:r>
            <a:endParaRPr lang="en-US" sz="1600" dirty="0"/>
          </a:p>
        </p:txBody>
      </p:sp>
      <p:sp>
        <p:nvSpPr>
          <p:cNvPr id="12" name="Shape 9"/>
          <p:cNvSpPr/>
          <p:nvPr/>
        </p:nvSpPr>
        <p:spPr>
          <a:xfrm>
            <a:off x="548640" y="3063240"/>
            <a:ext cx="5458968" cy="1280160"/>
          </a:xfrm>
          <a:prstGeom prst="roundRect">
            <a:avLst>
              <a:gd name="adj" fmla="val 5714"/>
            </a:avLst>
          </a:prstGeom>
          <a:solidFill>
            <a:srgbClr val="152038"/>
          </a:solidFill>
          <a:ln w="12700">
            <a:solidFill>
              <a:srgbClr val="2A3A5C"/>
            </a:solidFill>
            <a:prstDash val="solid"/>
          </a:ln>
        </p:spPr>
      </p:sp>
      <p:sp>
        <p:nvSpPr>
          <p:cNvPr id="13" name="Text 10"/>
          <p:cNvSpPr txBox="1"/>
          <p:nvPr/>
        </p:nvSpPr>
        <p:spPr>
          <a:xfrm>
            <a:off x="777240" y="3246120"/>
            <a:ext cx="3904488" cy="365760"/>
          </a:xfrm>
          <a:prstGeom prst="rect">
            <a:avLst/>
          </a:prstGeom>
          <a:noFill/>
          <a:ln/>
        </p:spPr>
        <p:txBody>
          <a:bodyPr wrap="square" lIns="0" tIns="0" rIns="0" bIns="0" rtlCol="0" anchor="t"/>
          <a:lstStyle/>
          <a:p>
            <a:pPr indent="0" marL="0">
              <a:buNone/>
            </a:pPr>
            <a:r>
              <a:rPr lang="en-US" sz="2000" b="1" dirty="0">
                <a:solidFill>
                  <a:srgbClr val="4FD1C5"/>
                </a:solidFill>
                <a:latin typeface="Cambria" pitchFamily="34" charset="0"/>
                <a:ea typeface="Cambria" pitchFamily="34" charset="-122"/>
                <a:cs typeface="Cambria" pitchFamily="34" charset="-120"/>
              </a:rPr>
              <a:t>Analyst feedback loop</a:t>
            </a:r>
            <a:endParaRPr lang="en-US" sz="2000" dirty="0"/>
          </a:p>
        </p:txBody>
      </p:sp>
      <p:sp>
        <p:nvSpPr>
          <p:cNvPr id="14" name="Text 11"/>
          <p:cNvSpPr txBox="1"/>
          <p:nvPr/>
        </p:nvSpPr>
        <p:spPr>
          <a:xfrm>
            <a:off x="4910328" y="3282696"/>
            <a:ext cx="914400" cy="274320"/>
          </a:xfrm>
          <a:prstGeom prst="rect">
            <a:avLst/>
          </a:prstGeom>
          <a:noFill/>
          <a:ln/>
        </p:spPr>
        <p:txBody>
          <a:bodyPr wrap="square" lIns="0" tIns="0" rIns="0" bIns="0" rtlCol="0" anchor="t"/>
          <a:lstStyle/>
          <a:p>
            <a:pPr algn="r" indent="0" marL="0">
              <a:buNone/>
            </a:pPr>
            <a:r>
              <a:rPr lang="en-US" sz="1200" b="1" dirty="0">
                <a:solidFill>
                  <a:srgbClr val="A3B1C9"/>
                </a:solidFill>
                <a:latin typeface="Calibri" pitchFamily="34" charset="0"/>
                <a:ea typeface="Calibri" pitchFamily="34" charset="-122"/>
                <a:cs typeface="Calibri" pitchFamily="34" charset="-120"/>
              </a:rPr>
              <a:t>FUTURE</a:t>
            </a:r>
            <a:endParaRPr lang="en-US" sz="1200" dirty="0"/>
          </a:p>
        </p:txBody>
      </p:sp>
      <p:sp>
        <p:nvSpPr>
          <p:cNvPr id="15" name="Text 12"/>
          <p:cNvSpPr txBox="1"/>
          <p:nvPr/>
        </p:nvSpPr>
        <p:spPr>
          <a:xfrm>
            <a:off x="777240" y="3749040"/>
            <a:ext cx="5001768" cy="502920"/>
          </a:xfrm>
          <a:prstGeom prst="rect">
            <a:avLst/>
          </a:prstGeom>
          <a:noFill/>
          <a:ln/>
        </p:spPr>
        <p:txBody>
          <a:bodyPr wrap="square" lIns="0" tIns="0" rIns="0" bIns="0" rtlCol="0" anchor="t"/>
          <a:lstStyle/>
          <a:p>
            <a:pPr indent="0" marL="0">
              <a:buNone/>
            </a:pPr>
            <a:r>
              <a:rPr lang="en-US" sz="1600" dirty="0">
                <a:solidFill>
                  <a:srgbClr val="EAF0F8"/>
                </a:solidFill>
                <a:latin typeface="Calibri" pitchFamily="34" charset="0"/>
                <a:ea typeface="Calibri" pitchFamily="34" charset="-122"/>
                <a:cs typeface="Calibri" pitchFamily="34" charset="-120"/>
              </a:rPr>
              <a:t>Analyst feedback written back into H-MEM</a:t>
            </a:r>
            <a:endParaRPr lang="en-US" sz="1600" dirty="0"/>
          </a:p>
        </p:txBody>
      </p:sp>
      <p:sp>
        <p:nvSpPr>
          <p:cNvPr id="16" name="Shape 13"/>
          <p:cNvSpPr/>
          <p:nvPr/>
        </p:nvSpPr>
        <p:spPr>
          <a:xfrm>
            <a:off x="6245352" y="3063240"/>
            <a:ext cx="5458968" cy="1280160"/>
          </a:xfrm>
          <a:prstGeom prst="roundRect">
            <a:avLst>
              <a:gd name="adj" fmla="val 5714"/>
            </a:avLst>
          </a:prstGeom>
          <a:solidFill>
            <a:srgbClr val="152038"/>
          </a:solidFill>
          <a:ln w="12700">
            <a:solidFill>
              <a:srgbClr val="2A3A5C"/>
            </a:solidFill>
            <a:prstDash val="solid"/>
          </a:ln>
        </p:spPr>
      </p:sp>
      <p:sp>
        <p:nvSpPr>
          <p:cNvPr id="17" name="Text 14"/>
          <p:cNvSpPr txBox="1"/>
          <p:nvPr/>
        </p:nvSpPr>
        <p:spPr>
          <a:xfrm>
            <a:off x="6473952" y="3246120"/>
            <a:ext cx="3904488" cy="365760"/>
          </a:xfrm>
          <a:prstGeom prst="rect">
            <a:avLst/>
          </a:prstGeom>
          <a:noFill/>
          <a:ln/>
        </p:spPr>
        <p:txBody>
          <a:bodyPr wrap="square" lIns="0" tIns="0" rIns="0" bIns="0" rtlCol="0" anchor="t"/>
          <a:lstStyle/>
          <a:p>
            <a:pPr indent="0" marL="0">
              <a:buNone/>
            </a:pPr>
            <a:r>
              <a:rPr lang="en-US" sz="2000" b="1" dirty="0">
                <a:solidFill>
                  <a:srgbClr val="4FD1C5"/>
                </a:solidFill>
                <a:latin typeface="Cambria" pitchFamily="34" charset="0"/>
                <a:ea typeface="Cambria" pitchFamily="34" charset="-122"/>
                <a:cs typeface="Cambria" pitchFamily="34" charset="-120"/>
              </a:rPr>
              <a:t>Team-shared memory</a:t>
            </a:r>
            <a:endParaRPr lang="en-US" sz="2000" dirty="0"/>
          </a:p>
        </p:txBody>
      </p:sp>
      <p:sp>
        <p:nvSpPr>
          <p:cNvPr id="18" name="Text 15"/>
          <p:cNvSpPr txBox="1"/>
          <p:nvPr/>
        </p:nvSpPr>
        <p:spPr>
          <a:xfrm>
            <a:off x="10607040" y="3282696"/>
            <a:ext cx="914400" cy="274320"/>
          </a:xfrm>
          <a:prstGeom prst="rect">
            <a:avLst/>
          </a:prstGeom>
          <a:noFill/>
          <a:ln/>
        </p:spPr>
        <p:txBody>
          <a:bodyPr wrap="square" lIns="0" tIns="0" rIns="0" bIns="0" rtlCol="0" anchor="t"/>
          <a:lstStyle/>
          <a:p>
            <a:pPr algn="r" indent="0" marL="0">
              <a:buNone/>
            </a:pPr>
            <a:r>
              <a:rPr lang="en-US" sz="1200" b="1" dirty="0">
                <a:solidFill>
                  <a:srgbClr val="A3B1C9"/>
                </a:solidFill>
                <a:latin typeface="Calibri" pitchFamily="34" charset="0"/>
                <a:ea typeface="Calibri" pitchFamily="34" charset="-122"/>
                <a:cs typeface="Calibri" pitchFamily="34" charset="-120"/>
              </a:rPr>
              <a:t>FUTURE</a:t>
            </a:r>
            <a:endParaRPr lang="en-US" sz="1200" dirty="0"/>
          </a:p>
        </p:txBody>
      </p:sp>
      <p:sp>
        <p:nvSpPr>
          <p:cNvPr id="19" name="Text 16"/>
          <p:cNvSpPr txBox="1"/>
          <p:nvPr/>
        </p:nvSpPr>
        <p:spPr>
          <a:xfrm>
            <a:off x="6473952" y="3749040"/>
            <a:ext cx="5001768" cy="502920"/>
          </a:xfrm>
          <a:prstGeom prst="rect">
            <a:avLst/>
          </a:prstGeom>
          <a:noFill/>
          <a:ln/>
        </p:spPr>
        <p:txBody>
          <a:bodyPr wrap="square" lIns="0" tIns="0" rIns="0" bIns="0" rtlCol="0" anchor="t"/>
          <a:lstStyle/>
          <a:p>
            <a:pPr indent="0" marL="0">
              <a:buNone/>
            </a:pPr>
            <a:r>
              <a:rPr lang="en-US" sz="1600" dirty="0">
                <a:solidFill>
                  <a:srgbClr val="EAF0F8"/>
                </a:solidFill>
                <a:latin typeface="Calibri" pitchFamily="34" charset="0"/>
                <a:ea typeface="Calibri" pitchFamily="34" charset="-122"/>
                <a:cs typeface="Calibri" pitchFamily="34" charset="-120"/>
              </a:rPr>
              <a:t>Verified findings shared across an analyst team</a:t>
            </a:r>
            <a:endParaRPr lang="en-US" sz="1600" dirty="0"/>
          </a:p>
        </p:txBody>
      </p:sp>
      <p:sp>
        <p:nvSpPr>
          <p:cNvPr id="20" name="Shape 17"/>
          <p:cNvSpPr/>
          <p:nvPr/>
        </p:nvSpPr>
        <p:spPr>
          <a:xfrm>
            <a:off x="548640" y="4572000"/>
            <a:ext cx="11155680" cy="1280160"/>
          </a:xfrm>
          <a:prstGeom prst="roundRect">
            <a:avLst>
              <a:gd name="adj" fmla="val 5714"/>
            </a:avLst>
          </a:prstGeom>
          <a:solidFill>
            <a:srgbClr val="152038"/>
          </a:solidFill>
          <a:ln w="12700">
            <a:solidFill>
              <a:srgbClr val="2A3A5C"/>
            </a:solidFill>
            <a:prstDash val="solid"/>
          </a:ln>
        </p:spPr>
      </p:sp>
      <p:sp>
        <p:nvSpPr>
          <p:cNvPr id="21" name="Text 18"/>
          <p:cNvSpPr txBox="1"/>
          <p:nvPr/>
        </p:nvSpPr>
        <p:spPr>
          <a:xfrm>
            <a:off x="777240" y="4754880"/>
            <a:ext cx="9601200" cy="365760"/>
          </a:xfrm>
          <a:prstGeom prst="rect">
            <a:avLst/>
          </a:prstGeom>
          <a:noFill/>
          <a:ln/>
        </p:spPr>
        <p:txBody>
          <a:bodyPr wrap="square" lIns="0" tIns="0" rIns="0" bIns="0" rtlCol="0" anchor="t"/>
          <a:lstStyle/>
          <a:p>
            <a:pPr indent="0" marL="0">
              <a:buNone/>
            </a:pPr>
            <a:r>
              <a:rPr lang="en-US" sz="2000" b="1" dirty="0">
                <a:solidFill>
                  <a:srgbClr val="4FD1C5"/>
                </a:solidFill>
                <a:latin typeface="Cambria" pitchFamily="34" charset="0"/>
                <a:ea typeface="Cambria" pitchFamily="34" charset="-122"/>
                <a:cs typeface="Cambria" pitchFamily="34" charset="-120"/>
              </a:rPr>
              <a:t>Evaluation set</a:t>
            </a:r>
            <a:endParaRPr lang="en-US" sz="2000" dirty="0"/>
          </a:p>
        </p:txBody>
      </p:sp>
      <p:sp>
        <p:nvSpPr>
          <p:cNvPr id="22" name="Text 19"/>
          <p:cNvSpPr txBox="1"/>
          <p:nvPr/>
        </p:nvSpPr>
        <p:spPr>
          <a:xfrm>
            <a:off x="10607040" y="4791456"/>
            <a:ext cx="914400" cy="274320"/>
          </a:xfrm>
          <a:prstGeom prst="rect">
            <a:avLst/>
          </a:prstGeom>
          <a:noFill/>
          <a:ln/>
        </p:spPr>
        <p:txBody>
          <a:bodyPr wrap="square" lIns="0" tIns="0" rIns="0" bIns="0" rtlCol="0" anchor="t"/>
          <a:lstStyle/>
          <a:p>
            <a:pPr algn="r" indent="0" marL="0">
              <a:buNone/>
            </a:pPr>
            <a:r>
              <a:rPr lang="en-US" sz="1200" b="1" dirty="0">
                <a:solidFill>
                  <a:srgbClr val="A3B1C9"/>
                </a:solidFill>
                <a:latin typeface="Calibri" pitchFamily="34" charset="0"/>
                <a:ea typeface="Calibri" pitchFamily="34" charset="-122"/>
                <a:cs typeface="Calibri" pitchFamily="34" charset="-120"/>
              </a:rPr>
              <a:t>FUTURE</a:t>
            </a:r>
            <a:endParaRPr lang="en-US" sz="1200" dirty="0"/>
          </a:p>
        </p:txBody>
      </p:sp>
      <p:sp>
        <p:nvSpPr>
          <p:cNvPr id="23" name="Text 20"/>
          <p:cNvSpPr txBox="1"/>
          <p:nvPr/>
        </p:nvSpPr>
        <p:spPr>
          <a:xfrm>
            <a:off x="777240" y="5257800"/>
            <a:ext cx="10698480" cy="502920"/>
          </a:xfrm>
          <a:prstGeom prst="rect">
            <a:avLst/>
          </a:prstGeom>
          <a:noFill/>
          <a:ln/>
        </p:spPr>
        <p:txBody>
          <a:bodyPr wrap="square" lIns="0" tIns="0" rIns="0" bIns="0" rtlCol="0" anchor="t"/>
          <a:lstStyle/>
          <a:p>
            <a:pPr indent="0" marL="0">
              <a:buNone/>
            </a:pPr>
            <a:r>
              <a:rPr lang="en-US" sz="1600" dirty="0">
                <a:solidFill>
                  <a:srgbClr val="EAF0F8"/>
                </a:solidFill>
                <a:latin typeface="Calibri" pitchFamily="34" charset="0"/>
                <a:ea typeface="Calibri" pitchFamily="34" charset="-122"/>
                <a:cs typeface="Calibri" pitchFamily="34" charset="-120"/>
              </a:rPr>
              <a:t>Historical “why” questions with known answers to measure the agent</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731520" y="1645920"/>
            <a:ext cx="10058400" cy="1097280"/>
          </a:xfrm>
          <a:prstGeom prst="rect">
            <a:avLst/>
          </a:prstGeom>
          <a:noFill/>
          <a:ln/>
        </p:spPr>
        <p:txBody>
          <a:bodyPr wrap="square" lIns="0" tIns="0" rIns="0" bIns="0" rtlCol="0" anchor="t"/>
          <a:lstStyle/>
          <a:p>
            <a:pPr indent="0" marL="0">
              <a:buNone/>
            </a:pPr>
            <a:r>
              <a:rPr lang="en-US" sz="7200" b="1" dirty="0">
                <a:solidFill>
                  <a:srgbClr val="EAF0F8"/>
                </a:solidFill>
                <a:latin typeface="Cambria" pitchFamily="34" charset="0"/>
                <a:ea typeface="Cambria" pitchFamily="34" charset="-122"/>
                <a:cs typeface="Cambria" pitchFamily="34" charset="-120"/>
              </a:rPr>
              <a:t>Causa</a:t>
            </a:r>
            <a:endParaRPr lang="en-US" sz="7200" dirty="0"/>
          </a:p>
        </p:txBody>
      </p:sp>
      <p:sp>
        <p:nvSpPr>
          <p:cNvPr id="4" name="Text 1"/>
          <p:cNvSpPr txBox="1"/>
          <p:nvPr/>
        </p:nvSpPr>
        <p:spPr>
          <a:xfrm>
            <a:off x="731520" y="2834640"/>
            <a:ext cx="10058400" cy="640080"/>
          </a:xfrm>
          <a:prstGeom prst="rect">
            <a:avLst/>
          </a:prstGeom>
          <a:noFill/>
          <a:ln/>
        </p:spPr>
        <p:txBody>
          <a:bodyPr wrap="square" lIns="0" tIns="0" rIns="0" bIns="0" rtlCol="0" anchor="t"/>
          <a:lstStyle/>
          <a:p>
            <a:pPr indent="0" marL="0">
              <a:buNone/>
            </a:pPr>
            <a:r>
              <a:rPr lang="en-US" sz="3200" i="1" dirty="0">
                <a:solidFill>
                  <a:srgbClr val="4FD1C5"/>
                </a:solidFill>
                <a:latin typeface="Cambria" pitchFamily="34" charset="0"/>
                <a:ea typeface="Cambria" pitchFamily="34" charset="-122"/>
                <a:cs typeface="Cambria" pitchFamily="34" charset="-120"/>
              </a:rPr>
              <a:t>“Answers you can check”</a:t>
            </a:r>
            <a:endParaRPr lang="en-US" sz="3200" dirty="0"/>
          </a:p>
        </p:txBody>
      </p:sp>
      <p:sp>
        <p:nvSpPr>
          <p:cNvPr id="5" name="Text 2"/>
          <p:cNvSpPr txBox="1"/>
          <p:nvPr/>
        </p:nvSpPr>
        <p:spPr>
          <a:xfrm>
            <a:off x="731520" y="4114800"/>
            <a:ext cx="10515600" cy="548640"/>
          </a:xfrm>
          <a:prstGeom prst="rect">
            <a:avLst/>
          </a:prstGeom>
          <a:noFill/>
          <a:ln/>
        </p:spPr>
        <p:txBody>
          <a:bodyPr wrap="square" lIns="0" tIns="0" rIns="0" bIns="0" rtlCol="0" anchor="t"/>
          <a:lstStyle/>
          <a:p>
            <a:pPr indent="0" marL="0">
              <a:buNone/>
            </a:pPr>
            <a:r>
              <a:rPr lang="en-US" sz="2800" dirty="0">
                <a:solidFill>
                  <a:srgbClr val="EAF0F8"/>
                </a:solidFill>
                <a:latin typeface="Calibri" pitchFamily="34" charset="0"/>
                <a:ea typeface="Calibri" pitchFamily="34" charset="-122"/>
                <a:cs typeface="Calibri" pitchFamily="34" charset="-120"/>
              </a:rPr>
              <a:t>https://github.com/ShayanMuhammad-CS/causa</a:t>
            </a:r>
            <a:endParaRPr lang="en-US" sz="2800" dirty="0"/>
          </a:p>
        </p:txBody>
      </p:sp>
      <p:sp>
        <p:nvSpPr>
          <p:cNvPr id="6" name="Text 3"/>
          <p:cNvSpPr txBox="1"/>
          <p:nvPr/>
        </p:nvSpPr>
        <p:spPr>
          <a:xfrm>
            <a:off x="731520" y="4846320"/>
            <a:ext cx="10515600" cy="457200"/>
          </a:xfrm>
          <a:prstGeom prst="rect">
            <a:avLst/>
          </a:prstGeom>
          <a:noFill/>
          <a:ln/>
        </p:spPr>
        <p:txBody>
          <a:bodyPr wrap="square" lIns="0" tIns="0" rIns="0" bIns="0" rtlCol="0" anchor="t"/>
          <a:lstStyle/>
          <a:p>
            <a:pPr indent="0" marL="0">
              <a:buNone/>
            </a:pPr>
            <a:r>
              <a:rPr lang="en-US" sz="2000" dirty="0">
                <a:solidFill>
                  <a:srgbClr val="A3B1C9"/>
                </a:solidFill>
                <a:latin typeface="Calibri" pitchFamily="34" charset="0"/>
                <a:ea typeface="Calibri" pitchFamily="34" charset="-122"/>
                <a:cs typeface="Calibri" pitchFamily="34" charset="-120"/>
              </a:rPr>
              <a:t>Track 02: The Agent That Can Explain Why  ·  Team MARS</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3B1C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 - Answers you can check</dc:title>
  <dc:subject>PptxGenJS Presentation</dc:subject>
  <dc:creator>Team MARS</dc:creator>
  <cp:lastModifiedBy>Team MARS</cp:lastModifiedBy>
  <cp:revision>1</cp:revision>
  <dcterms:created xsi:type="dcterms:W3CDTF">2026-10-24T15:19:42Z</dcterms:created>
  <dcterms:modified xsi:type="dcterms:W3CDTF">2026-10-24T15:19:42Z</dcterms:modified>
</cp:coreProperties>
</file>